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a:solidFill>
                  <a:srgbClr val="FFFFFF"/>
                </a:solidFill>
              </a:defRPr>
            </a:pPr>
            <a:r>
              <a:t>Capital &amp; Liquidity Ratios (%)</a:t>
            </a:r>
          </a:p>
        </c:rich>
      </c:tx>
      <c:layout/>
      <c:overlay val="0"/>
    </c:title>
    <c:autoTitleDeleted val="0"/>
    <c:plotArea>
      <c:barChart>
        <c:barDir val="col"/>
        <c:grouping val="clustered"/>
        <c:ser>
          <c:idx val="0"/>
          <c:order val="0"/>
          <c:tx>
            <c:strRef>
              <c:f>Sheet1!$B$1</c:f>
              <c:strCache>
                <c:ptCount val="1"/>
                <c:pt idx="0">
                  <c:v>FY2024</c:v>
                </c:pt>
              </c:strCache>
            </c:strRef>
          </c:tx>
          <c:cat>
            <c:strRef>
              <c:f>Sheet1!$A$2:$A$5</c:f>
              <c:strCache>
                <c:ptCount val="4"/>
                <c:pt idx="0">
                  <c:v>CET1</c:v>
                </c:pt>
                <c:pt idx="1">
                  <c:v>Tier 1</c:v>
                </c:pt>
                <c:pt idx="2">
                  <c:v>Total Capital</c:v>
                </c:pt>
                <c:pt idx="3">
                  <c:v>LCR</c:v>
                </c:pt>
              </c:strCache>
            </c:strRef>
          </c:cat>
          <c:val>
            <c:numRef>
              <c:f>Sheet1!$B$2:$B$5</c:f>
              <c:numCache>
                <c:formatCode>General</c:formatCode>
                <c:ptCount val="4"/>
                <c:pt idx="0">
                  <c:v>14.6</c:v>
                </c:pt>
                <c:pt idx="1">
                  <c:v>15.8</c:v>
                </c:pt>
                <c:pt idx="2">
                  <c:v>18.9</c:v>
                </c:pt>
                <c:pt idx="3">
                  <c:v>138</c:v>
                </c:pt>
              </c:numCache>
            </c:numRef>
          </c:val>
        </c:ser>
        <c:ser>
          <c:idx val="1"/>
          <c:order val="1"/>
          <c:tx>
            <c:strRef>
              <c:f>Sheet1!$C$1</c:f>
              <c:strCache>
                <c:ptCount val="1"/>
                <c:pt idx="0">
                  <c:v>FY2025</c:v>
                </c:pt>
              </c:strCache>
            </c:strRef>
          </c:tx>
          <c:cat>
            <c:strRef>
              <c:f>Sheet1!$A$2:$A$5</c:f>
              <c:strCache>
                <c:ptCount val="4"/>
                <c:pt idx="0">
                  <c:v>CET1</c:v>
                </c:pt>
                <c:pt idx="1">
                  <c:v>Tier 1</c:v>
                </c:pt>
                <c:pt idx="2">
                  <c:v>Total Capital</c:v>
                </c:pt>
                <c:pt idx="3">
                  <c:v>LCR</c:v>
                </c:pt>
              </c:strCache>
            </c:strRef>
          </c:cat>
          <c:val>
            <c:numRef>
              <c:f>Sheet1!$C$2:$C$5</c:f>
              <c:numCache>
                <c:formatCode>General</c:formatCode>
                <c:ptCount val="4"/>
                <c:pt idx="0">
                  <c:v>14.9</c:v>
                </c:pt>
                <c:pt idx="1">
                  <c:v>16.2</c:v>
                </c:pt>
                <c:pt idx="2">
                  <c:v>19.3</c:v>
                </c:pt>
                <c:pt idx="3">
                  <c:v>141.2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a:solidFill>
                  <a:srgbClr val="FFFFFF"/>
                </a:solidFill>
              </a:defRPr>
            </a:pPr>
            <a:r>
              <a:t>Dividend Per Share (sen)</a:t>
            </a:r>
          </a:p>
        </c:rich>
      </c:tx>
      <c:layout/>
      <c:overlay val="0"/>
    </c:title>
    <c:autoTitleDeleted val="0"/>
    <c:plotArea>
      <c:barChart>
        <c:barDir val="col"/>
        <c:grouping val="clustered"/>
        <c:ser>
          <c:idx val="0"/>
          <c:order val="0"/>
          <c:tx>
            <c:strRef>
              <c:f>Sheet1!$B$1</c:f>
              <c:strCache>
                <c:ptCount val="1"/>
                <c:pt idx="0">
                  <c:v>Dividend (sen/share)</c:v>
                </c:pt>
              </c:strCache>
            </c:strRef>
          </c:tx>
          <c:cat>
            <c:strRef>
              <c:f>Sheet1!$A$2:$A$5</c:f>
              <c:strCache>
                <c:ptCount val="4"/>
                <c:pt idx="0">
                  <c:v>2022</c:v>
                </c:pt>
                <c:pt idx="1">
                  <c:v>2023</c:v>
                </c:pt>
                <c:pt idx="2">
                  <c:v>2024</c:v>
                </c:pt>
                <c:pt idx="3">
                  <c:v>2025</c:v>
                </c:pt>
              </c:strCache>
            </c:strRef>
          </c:cat>
          <c:val>
            <c:numRef>
              <c:f>Sheet1!$B$2:$B$5</c:f>
              <c:numCache>
                <c:formatCode>General</c:formatCode>
                <c:ptCount val="4"/>
                <c:pt idx="0">
                  <c:v>55</c:v>
                </c:pt>
                <c:pt idx="1">
                  <c:v>58</c:v>
                </c:pt>
                <c:pt idx="2">
                  <c:v>61</c:v>
                </c:pt>
                <c:pt idx="3">
                  <c:v>63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914400"/>
          </a:xfrm>
          <a:prstGeom prst="rect">
            <a:avLst/>
          </a:prstGeom>
          <a:noFill/>
        </p:spPr>
        <p:txBody>
          <a:bodyPr wrap="square">
            <a:spAutoFit/>
          </a:bodyPr>
          <a:lstStyle/>
          <a:p>
            <a:pPr algn="ctr">
              <a:defRPr sz="6000" b="1">
                <a:solidFill>
                  <a:srgbClr val="FFFFFF"/>
                </a:solidFill>
              </a:defRPr>
            </a:pPr>
            <a:r>
              <a:t>MAYBANK</a:t>
            </a:r>
          </a:p>
        </p:txBody>
      </p:sp>
      <p:sp>
        <p:nvSpPr>
          <p:cNvPr id="4" name="TextBox 3"/>
          <p:cNvSpPr txBox="1"/>
          <p:nvPr/>
        </p:nvSpPr>
        <p:spPr>
          <a:xfrm>
            <a:off x="914400" y="2194560"/>
            <a:ext cx="10058400" cy="548640"/>
          </a:xfrm>
          <a:prstGeom prst="rect">
            <a:avLst/>
          </a:prstGeom>
          <a:noFill/>
        </p:spPr>
        <p:txBody>
          <a:bodyPr wrap="square">
            <a:spAutoFit/>
          </a:bodyPr>
          <a:lstStyle/>
          <a:p>
            <a:pPr algn="ctr">
              <a:defRPr sz="3200" b="1">
                <a:solidFill>
                  <a:srgbClr val="E94560"/>
                </a:solidFill>
              </a:defRPr>
            </a:pPr>
            <a:r>
              <a:t>Financial Analysis  FY2025</a:t>
            </a:r>
          </a:p>
        </p:txBody>
      </p:sp>
      <p:sp>
        <p:nvSpPr>
          <p:cNvPr id="5" name="TextBox 4"/>
          <p:cNvSpPr txBox="1"/>
          <p:nvPr/>
        </p:nvSpPr>
        <p:spPr>
          <a:xfrm>
            <a:off x="914400" y="3108960"/>
            <a:ext cx="10058400" cy="457200"/>
          </a:xfrm>
          <a:prstGeom prst="rect">
            <a:avLst/>
          </a:prstGeom>
          <a:noFill/>
        </p:spPr>
        <p:txBody>
          <a:bodyPr wrap="square">
            <a:spAutoFit/>
          </a:bodyPr>
          <a:lstStyle/>
          <a:p>
            <a:pPr algn="ctr">
              <a:defRPr sz="1600" b="0">
                <a:solidFill>
                  <a:srgbClr val="A0A0B8"/>
                </a:solidFill>
              </a:defRPr>
            </a:pPr>
            <a:r>
              <a:t>KLSE: MAYBANK (1155)  |  Malayan Banking Berhad</a:t>
            </a:r>
          </a:p>
        </p:txBody>
      </p:sp>
      <p:sp>
        <p:nvSpPr>
          <p:cNvPr id="6" name="TextBox 5"/>
          <p:cNvSpPr txBox="1"/>
          <p:nvPr/>
        </p:nvSpPr>
        <p:spPr>
          <a:xfrm>
            <a:off x="914400" y="4114800"/>
            <a:ext cx="10058400" cy="365760"/>
          </a:xfrm>
          <a:prstGeom prst="rect">
            <a:avLst/>
          </a:prstGeom>
          <a:noFill/>
        </p:spPr>
        <p:txBody>
          <a:bodyPr wrap="square">
            <a:spAutoFit/>
          </a:bodyPr>
          <a:lstStyle/>
          <a:p>
            <a:pPr algn="ctr">
              <a:defRPr sz="1300" b="0">
                <a:solidFill>
                  <a:srgbClr val="7A7A9A"/>
                </a:solidFill>
              </a:defRPr>
            </a:pPr>
            <a:r>
              <a:t>ASEAN's leading financial services group  44,000+ employees  18 countries</a:t>
            </a:r>
          </a:p>
        </p:txBody>
      </p:sp>
      <p:sp>
        <p:nvSpPr>
          <p:cNvPr id="7" name="TextBox 6"/>
          <p:cNvSpPr txBox="1"/>
          <p:nvPr/>
        </p:nvSpPr>
        <p:spPr>
          <a:xfrm>
            <a:off x="914400" y="5029200"/>
            <a:ext cx="10058400" cy="365760"/>
          </a:xfrm>
          <a:prstGeom prst="rect">
            <a:avLst/>
          </a:prstGeom>
          <a:noFill/>
        </p:spPr>
        <p:txBody>
          <a:bodyPr wrap="square">
            <a:spAutoFit/>
          </a:bodyPr>
          <a:lstStyle/>
          <a:p>
            <a:pPr algn="ctr">
              <a:defRPr sz="1400" b="0">
                <a:solidFill>
                  <a:srgbClr val="8AB4F8"/>
                </a:solidFill>
              </a:defRPr>
            </a:pPr>
            <a:r>
              <a:t>Market Cap ~RM120B (~USD30B)  |  Share Price RM9.92 (Nov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Executive Summary</a:t>
            </a:r>
          </a:p>
        </p:txBody>
      </p:sp>
      <p:sp>
        <p:nvSpPr>
          <p:cNvPr id="4" name="Rectangle 3"/>
          <p:cNvSpPr/>
          <p:nvPr/>
        </p:nvSpPr>
        <p:spPr>
          <a:xfrm>
            <a:off x="274320" y="1508760"/>
            <a:ext cx="11612880" cy="13716"/>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10972800" cy="4114800"/>
          </a:xfrm>
          <a:prstGeom prst="rect">
            <a:avLst/>
          </a:prstGeom>
          <a:noFill/>
        </p:spPr>
        <p:txBody>
          <a:bodyPr wrap="square">
            <a:spAutoFit/>
          </a:bodyPr>
          <a:lstStyle/>
          <a:p>
            <a:pPr>
              <a:spcAft>
                <a:spcPts val="400"/>
              </a:spcAft>
              <a:defRPr sz="1300">
                <a:solidFill>
                  <a:srgbClr val="A0A0B8"/>
                </a:solidFill>
              </a:defRPr>
            </a:pPr>
            <a:r>
              <a:t>Maybank (Malayan Banking Berhad) delivered a record net profit of RM10.51 billion in FY2025, up 4.2% YoY, driven by steady net fund-based income growth, disciplined cost management, and improving asset quality.</a:t>
            </a:r>
          </a:p>
          <a:p>
            <a:pPr>
              <a:spcAft>
                <a:spcPts val="400"/>
              </a:spcAft>
              <a:defRPr sz="1300">
                <a:solidFill>
                  <a:srgbClr val="A0A0B8"/>
                </a:solidFill>
              </a:defRPr>
            </a:pPr>
          </a:p>
          <a:p>
            <a:pPr>
              <a:spcAft>
                <a:spcPts val="400"/>
              </a:spcAft>
              <a:defRPr sz="1300">
                <a:solidFill>
                  <a:srgbClr val="A0A0B8"/>
                </a:solidFill>
              </a:defRPr>
            </a:pPr>
            <a:r>
              <a:t>KEY HIGHLIGHTS:</a:t>
            </a:r>
          </a:p>
          <a:p>
            <a:pPr>
              <a:spcAft>
                <a:spcPts val="400"/>
              </a:spcAft>
              <a:defRPr sz="1300">
                <a:solidFill>
                  <a:srgbClr val="A0A0B8"/>
                </a:solidFill>
              </a:defRPr>
            </a:pPr>
            <a:r>
              <a:t>  Net Operating Income: RM30.38B (+2.7% YoY)    |    ROE: 11.7% (from 11.1%)</a:t>
            </a:r>
          </a:p>
          <a:p>
            <a:pPr>
              <a:spcAft>
                <a:spcPts val="400"/>
              </a:spcAft>
              <a:defRPr sz="1300">
                <a:solidFill>
                  <a:srgbClr val="A0A0B8"/>
                </a:solidFill>
              </a:defRPr>
            </a:pPr>
            <a:r>
              <a:t>  Dividend: 63 sen/share (6.0% yield)            |    CET1 Ratio: 14.9%</a:t>
            </a:r>
          </a:p>
          <a:p>
            <a:pPr>
              <a:spcAft>
                <a:spcPts val="400"/>
              </a:spcAft>
              <a:defRPr sz="1300">
                <a:solidFill>
                  <a:srgbClr val="A0A0B8"/>
                </a:solidFill>
              </a:defRPr>
            </a:pPr>
            <a:r>
              <a:t>  Total Assets: RM1.05 trillion                  |    LCR: 141.2%</a:t>
            </a:r>
          </a:p>
          <a:p>
            <a:pPr>
              <a:spcAft>
                <a:spcPts val="400"/>
              </a:spcAft>
              <a:defRPr sz="1300">
                <a:solidFill>
                  <a:srgbClr val="A0A0B8"/>
                </a:solidFill>
              </a:defRPr>
            </a:pPr>
          </a:p>
          <a:p>
            <a:pPr>
              <a:spcAft>
                <a:spcPts val="400"/>
              </a:spcAft>
              <a:defRPr sz="1300">
                <a:solidFill>
                  <a:srgbClr val="A0A0B8"/>
                </a:solidFill>
              </a:defRPr>
            </a:pPr>
            <a:r>
              <a:t>The bank maintained its position as Malaysia's largest bank by assets and market capitalization, with strong presence across all 10 ASEAN nations. Maybank exceeded all four of its sustainability targets, with cumulative sustainable finance reaching RM156.3 billion.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Income Statement Highlights</a:t>
            </a:r>
          </a:p>
        </p:txBody>
      </p:sp>
      <p:sp>
        <p:nvSpPr>
          <p:cNvPr id="4" name="Rectangle 3"/>
          <p:cNvSpPr/>
          <p:nvPr/>
        </p:nvSpPr>
        <p:spPr>
          <a:xfrm>
            <a:off x="274320" y="1508760"/>
            <a:ext cx="11612880" cy="13716"/>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828800"/>
          <a:ext cx="11247120" cy="411480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457200">
                <a:tc>
                  <a:txBody>
                    <a:bodyPr/>
                    <a:lstStyle/>
                    <a:p>
                      <a:pPr algn="ctr">
                        <a:defRPr sz="1100" b="1">
                          <a:solidFill>
                            <a:srgbClr val="E94560"/>
                          </a:solidFill>
                        </a:defRPr>
                      </a:pPr>
                      <a:r>
                        <a:t>Metric</a:t>
                      </a:r>
                    </a:p>
                  </a:txBody>
                  <a:tcPr>
                    <a:solidFill>
                      <a:srgbClr val="1A1A2E"/>
                    </a:solidFill>
                  </a:tcPr>
                </a:tc>
                <a:tc>
                  <a:txBody>
                    <a:bodyPr/>
                    <a:lstStyle/>
                    <a:p>
                      <a:pPr algn="ctr">
                        <a:defRPr sz="1100" b="1">
                          <a:solidFill>
                            <a:srgbClr val="E94560"/>
                          </a:solidFill>
                        </a:defRPr>
                      </a:pPr>
                      <a:r>
                        <a:t>FY2025</a:t>
                      </a:r>
                    </a:p>
                  </a:txBody>
                  <a:tcPr>
                    <a:solidFill>
                      <a:srgbClr val="1A1A2E"/>
                    </a:solidFill>
                  </a:tcPr>
                </a:tc>
                <a:tc>
                  <a:txBody>
                    <a:bodyPr/>
                    <a:lstStyle/>
                    <a:p>
                      <a:pPr algn="ctr">
                        <a:defRPr sz="1100" b="1">
                          <a:solidFill>
                            <a:srgbClr val="E94560"/>
                          </a:solidFill>
                        </a:defRPr>
                      </a:pPr>
                      <a:r>
                        <a:t>FY2024</a:t>
                      </a:r>
                    </a:p>
                  </a:txBody>
                  <a:tcPr>
                    <a:solidFill>
                      <a:srgbClr val="1A1A2E"/>
                    </a:solidFill>
                  </a:tcPr>
                </a:tc>
                <a:tc>
                  <a:txBody>
                    <a:bodyPr/>
                    <a:lstStyle/>
                    <a:p>
                      <a:pPr algn="ctr">
                        <a:defRPr sz="1100" b="1">
                          <a:solidFill>
                            <a:srgbClr val="E94560"/>
                          </a:solidFill>
                        </a:defRPr>
                      </a:pPr>
                      <a:r>
                        <a:t>Change</a:t>
                      </a:r>
                    </a:p>
                  </a:txBody>
                  <a:tcPr>
                    <a:solidFill>
                      <a:srgbClr val="1A1A2E"/>
                    </a:solidFill>
                  </a:tcPr>
                </a:tc>
                <a:tc>
                  <a:txBody>
                    <a:bodyPr/>
                    <a:lstStyle/>
                    <a:p>
                      <a:pPr algn="ctr">
                        <a:defRPr sz="1100" b="1">
                          <a:solidFill>
                            <a:srgbClr val="E94560"/>
                          </a:solidFill>
                        </a:defRPr>
                      </a:pPr>
                      <a:r>
                        <a:t>Trend</a:t>
                      </a:r>
                    </a:p>
                  </a:txBody>
                  <a:tcPr>
                    <a:solidFill>
                      <a:srgbClr val="1A1A2E"/>
                    </a:solidFill>
                  </a:tcPr>
                </a:tc>
              </a:tr>
              <a:tr h="457200">
                <a:tc>
                  <a:txBody>
                    <a:bodyPr/>
                    <a:lstStyle/>
                    <a:p>
                      <a:pPr algn="ctr">
                        <a:defRPr sz="1100">
                          <a:solidFill>
                            <a:srgbClr val="FFFFFF"/>
                          </a:solidFill>
                        </a:defRPr>
                      </a:pPr>
                      <a:r>
                        <a:t>Operating Revenue</a:t>
                      </a:r>
                    </a:p>
                  </a:txBody>
                  <a:tcPr>
                    <a:solidFill>
                      <a:srgbClr val="16162A"/>
                    </a:solidFill>
                  </a:tcPr>
                </a:tc>
                <a:tc>
                  <a:txBody>
                    <a:bodyPr/>
                    <a:lstStyle/>
                    <a:p>
                      <a:pPr algn="ctr">
                        <a:defRPr sz="1100">
                          <a:solidFill>
                            <a:srgbClr val="FFFFFF"/>
                          </a:solidFill>
                        </a:defRPr>
                      </a:pPr>
                      <a:r>
                        <a:t>RM66.37B</a:t>
                      </a:r>
                    </a:p>
                  </a:txBody>
                  <a:tcPr>
                    <a:solidFill>
                      <a:srgbClr val="16162A"/>
                    </a:solidFill>
                  </a:tcPr>
                </a:tc>
                <a:tc>
                  <a:txBody>
                    <a:bodyPr/>
                    <a:lstStyle/>
                    <a:p>
                      <a:pPr algn="ctr">
                        <a:defRPr sz="1100">
                          <a:solidFill>
                            <a:srgbClr val="FFFFFF"/>
                          </a:solidFill>
                        </a:defRPr>
                      </a:pPr>
                      <a:r>
                        <a:t>RM68.94B</a:t>
                      </a:r>
                    </a:p>
                  </a:txBody>
                  <a:tcPr>
                    <a:solidFill>
                      <a:srgbClr val="16162A"/>
                    </a:solidFill>
                  </a:tcPr>
                </a:tc>
                <a:tc>
                  <a:txBody>
                    <a:bodyPr/>
                    <a:lstStyle/>
                    <a:p>
                      <a:pPr algn="ctr">
                        <a:defRPr sz="1100">
                          <a:solidFill>
                            <a:srgbClr val="FFFFFF"/>
                          </a:solidFill>
                        </a:defRPr>
                      </a:pPr>
                      <a:r>
                        <a:t>-3.7%</a:t>
                      </a:r>
                    </a:p>
                  </a:txBody>
                  <a:tcPr>
                    <a:solidFill>
                      <a:srgbClr val="16162A"/>
                    </a:solidFill>
                  </a:tcPr>
                </a:tc>
                <a:tc>
                  <a:txBody>
                    <a:bodyPr/>
                    <a:lstStyle/>
                    <a:p>
                      <a:pPr algn="ctr">
                        <a:defRPr sz="1100">
                          <a:solidFill>
                            <a:srgbClr val="FFFFFF"/>
                          </a:solidFill>
                        </a:defRPr>
                      </a:pPr>
                      <a:r>
                        <a:t>Down</a:t>
                      </a:r>
                    </a:p>
                  </a:txBody>
                  <a:tcPr>
                    <a:solidFill>
                      <a:srgbClr val="16162A"/>
                    </a:solidFill>
                  </a:tcPr>
                </a:tc>
              </a:tr>
              <a:tr h="457200">
                <a:tc>
                  <a:txBody>
                    <a:bodyPr/>
                    <a:lstStyle/>
                    <a:p>
                      <a:pPr algn="ctr">
                        <a:defRPr sz="1100">
                          <a:solidFill>
                            <a:srgbClr val="FFFFFF"/>
                          </a:solidFill>
                        </a:defRPr>
                      </a:pPr>
                      <a:r>
                        <a:t>Net Operating Income</a:t>
                      </a:r>
                    </a:p>
                  </a:txBody>
                  <a:tcPr>
                    <a:solidFill>
                      <a:srgbClr val="1A1A2E"/>
                    </a:solidFill>
                  </a:tcPr>
                </a:tc>
                <a:tc>
                  <a:txBody>
                    <a:bodyPr/>
                    <a:lstStyle/>
                    <a:p>
                      <a:pPr algn="ctr">
                        <a:defRPr sz="1100">
                          <a:solidFill>
                            <a:srgbClr val="FFFFFF"/>
                          </a:solidFill>
                        </a:defRPr>
                      </a:pPr>
                      <a:r>
                        <a:t>RM30.38B</a:t>
                      </a:r>
                    </a:p>
                  </a:txBody>
                  <a:tcPr>
                    <a:solidFill>
                      <a:srgbClr val="1A1A2E"/>
                    </a:solidFill>
                  </a:tcPr>
                </a:tc>
                <a:tc>
                  <a:txBody>
                    <a:bodyPr/>
                    <a:lstStyle/>
                    <a:p>
                      <a:pPr algn="ctr">
                        <a:defRPr sz="1100">
                          <a:solidFill>
                            <a:srgbClr val="FFFFFF"/>
                          </a:solidFill>
                        </a:defRPr>
                      </a:pPr>
                      <a:r>
                        <a:t>RM29.57B</a:t>
                      </a:r>
                    </a:p>
                  </a:txBody>
                  <a:tcPr>
                    <a:solidFill>
                      <a:srgbClr val="1A1A2E"/>
                    </a:solidFill>
                  </a:tcPr>
                </a:tc>
                <a:tc>
                  <a:txBody>
                    <a:bodyPr/>
                    <a:lstStyle/>
                    <a:p>
                      <a:pPr algn="ctr">
                        <a:defRPr sz="1100">
                          <a:solidFill>
                            <a:srgbClr val="FFFFFF"/>
                          </a:solidFill>
                        </a:defRPr>
                      </a:pPr>
                      <a:r>
                        <a:t>+2.7%</a:t>
                      </a:r>
                    </a:p>
                  </a:txBody>
                  <a:tcPr>
                    <a:solidFill>
                      <a:srgbClr val="1A1A2E"/>
                    </a:solidFill>
                  </a:tcPr>
                </a:tc>
                <a:tc>
                  <a:txBody>
                    <a:bodyPr/>
                    <a:lstStyle/>
                    <a:p>
                      <a:pPr algn="ctr">
                        <a:defRPr sz="1100">
                          <a:solidFill>
                            <a:srgbClr val="FFFFFF"/>
                          </a:solidFill>
                        </a:defRPr>
                      </a:pPr>
                      <a:r>
                        <a:t>Up</a:t>
                      </a:r>
                    </a:p>
                  </a:txBody>
                  <a:tcPr>
                    <a:solidFill>
                      <a:srgbClr val="1A1A2E"/>
                    </a:solidFill>
                  </a:tcPr>
                </a:tc>
              </a:tr>
              <a:tr h="457200">
                <a:tc>
                  <a:txBody>
                    <a:bodyPr/>
                    <a:lstStyle/>
                    <a:p>
                      <a:pPr algn="ctr">
                        <a:defRPr sz="1100">
                          <a:solidFill>
                            <a:srgbClr val="FFFFFF"/>
                          </a:solidFill>
                        </a:defRPr>
                      </a:pPr>
                      <a:r>
                        <a:t>Net Fund Based Income</a:t>
                      </a:r>
                    </a:p>
                  </a:txBody>
                  <a:tcPr>
                    <a:solidFill>
                      <a:srgbClr val="16162A"/>
                    </a:solidFill>
                  </a:tcPr>
                </a:tc>
                <a:tc>
                  <a:txBody>
                    <a:bodyPr/>
                    <a:lstStyle/>
                    <a:p>
                      <a:pPr algn="ctr">
                        <a:defRPr sz="1100">
                          <a:solidFill>
                            <a:srgbClr val="FFFFFF"/>
                          </a:solidFill>
                        </a:defRPr>
                      </a:pPr>
                      <a:r>
                        <a:t>RM20.23B</a:t>
                      </a:r>
                    </a:p>
                  </a:txBody>
                  <a:tcPr>
                    <a:solidFill>
                      <a:srgbClr val="16162A"/>
                    </a:solidFill>
                  </a:tcPr>
                </a:tc>
                <a:tc>
                  <a:txBody>
                    <a:bodyPr/>
                    <a:lstStyle/>
                    <a:p>
                      <a:pPr algn="ctr">
                        <a:defRPr sz="1100">
                          <a:solidFill>
                            <a:srgbClr val="FFFFFF"/>
                          </a:solidFill>
                        </a:defRPr>
                      </a:pPr>
                      <a:r>
                        <a:t>RM19.69B</a:t>
                      </a:r>
                    </a:p>
                  </a:txBody>
                  <a:tcPr>
                    <a:solidFill>
                      <a:srgbClr val="16162A"/>
                    </a:solidFill>
                  </a:tcPr>
                </a:tc>
                <a:tc>
                  <a:txBody>
                    <a:bodyPr/>
                    <a:lstStyle/>
                    <a:p>
                      <a:pPr algn="ctr">
                        <a:defRPr sz="1100">
                          <a:solidFill>
                            <a:srgbClr val="FFFFFF"/>
                          </a:solidFill>
                        </a:defRPr>
                      </a:pPr>
                      <a:r>
                        <a:t>+2.7%</a:t>
                      </a:r>
                    </a:p>
                  </a:txBody>
                  <a:tcPr>
                    <a:solidFill>
                      <a:srgbClr val="16162A"/>
                    </a:solidFill>
                  </a:tcPr>
                </a:tc>
                <a:tc>
                  <a:txBody>
                    <a:bodyPr/>
                    <a:lstStyle/>
                    <a:p>
                      <a:pPr algn="ctr">
                        <a:defRPr sz="1100">
                          <a:solidFill>
                            <a:srgbClr val="FFFFFF"/>
                          </a:solidFill>
                        </a:defRPr>
                      </a:pPr>
                      <a:r>
                        <a:t>Up</a:t>
                      </a:r>
                    </a:p>
                  </a:txBody>
                  <a:tcPr>
                    <a:solidFill>
                      <a:srgbClr val="16162A"/>
                    </a:solidFill>
                  </a:tcPr>
                </a:tc>
              </a:tr>
              <a:tr h="457200">
                <a:tc>
                  <a:txBody>
                    <a:bodyPr/>
                    <a:lstStyle/>
                    <a:p>
                      <a:pPr algn="ctr">
                        <a:defRPr sz="1100">
                          <a:solidFill>
                            <a:srgbClr val="FFFFFF"/>
                          </a:solidFill>
                        </a:defRPr>
                      </a:pPr>
                      <a:r>
                        <a:t>Non-Interest Income (NOII)</a:t>
                      </a:r>
                    </a:p>
                  </a:txBody>
                  <a:tcPr>
                    <a:solidFill>
                      <a:srgbClr val="1A1A2E"/>
                    </a:solidFill>
                  </a:tcPr>
                </a:tc>
                <a:tc>
                  <a:txBody>
                    <a:bodyPr/>
                    <a:lstStyle/>
                    <a:p>
                      <a:pPr algn="ctr">
                        <a:defRPr sz="1100">
                          <a:solidFill>
                            <a:srgbClr val="FFFFFF"/>
                          </a:solidFill>
                        </a:defRPr>
                      </a:pPr>
                      <a:r>
                        <a:t>RM10.15B</a:t>
                      </a:r>
                    </a:p>
                  </a:txBody>
                  <a:tcPr>
                    <a:solidFill>
                      <a:srgbClr val="1A1A2E"/>
                    </a:solidFill>
                  </a:tcPr>
                </a:tc>
                <a:tc>
                  <a:txBody>
                    <a:bodyPr/>
                    <a:lstStyle/>
                    <a:p>
                      <a:pPr algn="ctr">
                        <a:defRPr sz="1100">
                          <a:solidFill>
                            <a:srgbClr val="FFFFFF"/>
                          </a:solidFill>
                        </a:defRPr>
                      </a:pPr>
                      <a:r>
                        <a:t>RM9.88B</a:t>
                      </a:r>
                    </a:p>
                  </a:txBody>
                  <a:tcPr>
                    <a:solidFill>
                      <a:srgbClr val="1A1A2E"/>
                    </a:solidFill>
                  </a:tcPr>
                </a:tc>
                <a:tc>
                  <a:txBody>
                    <a:bodyPr/>
                    <a:lstStyle/>
                    <a:p>
                      <a:pPr algn="ctr">
                        <a:defRPr sz="1100">
                          <a:solidFill>
                            <a:srgbClr val="FFFFFF"/>
                          </a:solidFill>
                        </a:defRPr>
                      </a:pPr>
                      <a:r>
                        <a:t>+2.7%</a:t>
                      </a:r>
                    </a:p>
                  </a:txBody>
                  <a:tcPr>
                    <a:solidFill>
                      <a:srgbClr val="1A1A2E"/>
                    </a:solidFill>
                  </a:tcPr>
                </a:tc>
                <a:tc>
                  <a:txBody>
                    <a:bodyPr/>
                    <a:lstStyle/>
                    <a:p>
                      <a:pPr algn="ctr">
                        <a:defRPr sz="1100">
                          <a:solidFill>
                            <a:srgbClr val="FFFFFF"/>
                          </a:solidFill>
                        </a:defRPr>
                      </a:pPr>
                      <a:r>
                        <a:t>Up</a:t>
                      </a:r>
                    </a:p>
                  </a:txBody>
                  <a:tcPr>
                    <a:solidFill>
                      <a:srgbClr val="1A1A2E"/>
                    </a:solidFill>
                  </a:tcPr>
                </a:tc>
              </a:tr>
              <a:tr h="457200">
                <a:tc>
                  <a:txBody>
                    <a:bodyPr/>
                    <a:lstStyle/>
                    <a:p>
                      <a:pPr algn="ctr">
                        <a:defRPr sz="1100">
                          <a:solidFill>
                            <a:srgbClr val="FFFFFF"/>
                          </a:solidFill>
                        </a:defRPr>
                      </a:pPr>
                      <a:r>
                        <a:t>PPOP</a:t>
                      </a:r>
                    </a:p>
                  </a:txBody>
                  <a:tcPr>
                    <a:solidFill>
                      <a:srgbClr val="16162A"/>
                    </a:solidFill>
                  </a:tcPr>
                </a:tc>
                <a:tc>
                  <a:txBody>
                    <a:bodyPr/>
                    <a:lstStyle/>
                    <a:p>
                      <a:pPr algn="ctr">
                        <a:defRPr sz="1100">
                          <a:solidFill>
                            <a:srgbClr val="FFFFFF"/>
                          </a:solidFill>
                        </a:defRPr>
                      </a:pPr>
                      <a:r>
                        <a:t>RM15.54B</a:t>
                      </a:r>
                    </a:p>
                  </a:txBody>
                  <a:tcPr>
                    <a:solidFill>
                      <a:srgbClr val="16162A"/>
                    </a:solidFill>
                  </a:tcPr>
                </a:tc>
                <a:tc>
                  <a:txBody>
                    <a:bodyPr/>
                    <a:lstStyle/>
                    <a:p>
                      <a:pPr algn="ctr">
                        <a:defRPr sz="1100">
                          <a:solidFill>
                            <a:srgbClr val="FFFFFF"/>
                          </a:solidFill>
                        </a:defRPr>
                      </a:pPr>
                      <a:r>
                        <a:t>RM15.11B</a:t>
                      </a:r>
                    </a:p>
                  </a:txBody>
                  <a:tcPr>
                    <a:solidFill>
                      <a:srgbClr val="16162A"/>
                    </a:solidFill>
                  </a:tcPr>
                </a:tc>
                <a:tc>
                  <a:txBody>
                    <a:bodyPr/>
                    <a:lstStyle/>
                    <a:p>
                      <a:pPr algn="ctr">
                        <a:defRPr sz="1100">
                          <a:solidFill>
                            <a:srgbClr val="FFFFFF"/>
                          </a:solidFill>
                        </a:defRPr>
                      </a:pPr>
                      <a:r>
                        <a:t>+2.8%</a:t>
                      </a:r>
                    </a:p>
                  </a:txBody>
                  <a:tcPr>
                    <a:solidFill>
                      <a:srgbClr val="16162A"/>
                    </a:solidFill>
                  </a:tcPr>
                </a:tc>
                <a:tc>
                  <a:txBody>
                    <a:bodyPr/>
                    <a:lstStyle/>
                    <a:p>
                      <a:pPr algn="ctr">
                        <a:defRPr sz="1100">
                          <a:solidFill>
                            <a:srgbClr val="FFFFFF"/>
                          </a:solidFill>
                        </a:defRPr>
                      </a:pPr>
                      <a:r>
                        <a:t>Up</a:t>
                      </a:r>
                    </a:p>
                  </a:txBody>
                  <a:tcPr>
                    <a:solidFill>
                      <a:srgbClr val="16162A"/>
                    </a:solidFill>
                  </a:tcPr>
                </a:tc>
              </a:tr>
              <a:tr h="457200">
                <a:tc>
                  <a:txBody>
                    <a:bodyPr/>
                    <a:lstStyle/>
                    <a:p>
                      <a:pPr algn="ctr">
                        <a:defRPr sz="1100">
                          <a:solidFill>
                            <a:srgbClr val="FFFFFF"/>
                          </a:solidFill>
                        </a:defRPr>
                      </a:pPr>
                      <a:r>
                        <a:t>Profit Before Tax</a:t>
                      </a:r>
                    </a:p>
                  </a:txBody>
                  <a:tcPr>
                    <a:solidFill>
                      <a:srgbClr val="1A1A2E"/>
                    </a:solidFill>
                  </a:tcPr>
                </a:tc>
                <a:tc>
                  <a:txBody>
                    <a:bodyPr/>
                    <a:lstStyle/>
                    <a:p>
                      <a:pPr algn="ctr">
                        <a:defRPr sz="1100">
                          <a:solidFill>
                            <a:srgbClr val="FFFFFF"/>
                          </a:solidFill>
                        </a:defRPr>
                      </a:pPr>
                      <a:r>
                        <a:t>RM14.33B</a:t>
                      </a:r>
                    </a:p>
                  </a:txBody>
                  <a:tcPr>
                    <a:solidFill>
                      <a:srgbClr val="1A1A2E"/>
                    </a:solidFill>
                  </a:tcPr>
                </a:tc>
                <a:tc>
                  <a:txBody>
                    <a:bodyPr/>
                    <a:lstStyle/>
                    <a:p>
                      <a:pPr algn="ctr">
                        <a:defRPr sz="1100">
                          <a:solidFill>
                            <a:srgbClr val="FFFFFF"/>
                          </a:solidFill>
                        </a:defRPr>
                      </a:pPr>
                      <a:r>
                        <a:t>RM13.70B</a:t>
                      </a:r>
                    </a:p>
                  </a:txBody>
                  <a:tcPr>
                    <a:solidFill>
                      <a:srgbClr val="1A1A2E"/>
                    </a:solidFill>
                  </a:tcPr>
                </a:tc>
                <a:tc>
                  <a:txBody>
                    <a:bodyPr/>
                    <a:lstStyle/>
                    <a:p>
                      <a:pPr algn="ctr">
                        <a:defRPr sz="1100">
                          <a:solidFill>
                            <a:srgbClr val="FFFFFF"/>
                          </a:solidFill>
                        </a:defRPr>
                      </a:pPr>
                      <a:r>
                        <a:t>+4.6%</a:t>
                      </a:r>
                    </a:p>
                  </a:txBody>
                  <a:tcPr>
                    <a:solidFill>
                      <a:srgbClr val="1A1A2E"/>
                    </a:solidFill>
                  </a:tcPr>
                </a:tc>
                <a:tc>
                  <a:txBody>
                    <a:bodyPr/>
                    <a:lstStyle/>
                    <a:p>
                      <a:pPr algn="ctr">
                        <a:defRPr sz="1100">
                          <a:solidFill>
                            <a:srgbClr val="FFFFFF"/>
                          </a:solidFill>
                        </a:defRPr>
                      </a:pPr>
                      <a:r>
                        <a:t>Up</a:t>
                      </a:r>
                    </a:p>
                  </a:txBody>
                  <a:tcPr>
                    <a:solidFill>
                      <a:srgbClr val="1A1A2E"/>
                    </a:solidFill>
                  </a:tcPr>
                </a:tc>
              </a:tr>
              <a:tr h="457200">
                <a:tc>
                  <a:txBody>
                    <a:bodyPr/>
                    <a:lstStyle/>
                    <a:p>
                      <a:pPr algn="ctr">
                        <a:defRPr sz="1100">
                          <a:solidFill>
                            <a:srgbClr val="FFFFFF"/>
                          </a:solidFill>
                        </a:defRPr>
                      </a:pPr>
                      <a:r>
                        <a:t>Net Profit (Attributable)</a:t>
                      </a:r>
                    </a:p>
                  </a:txBody>
                  <a:tcPr>
                    <a:solidFill>
                      <a:srgbClr val="16162A"/>
                    </a:solidFill>
                  </a:tcPr>
                </a:tc>
                <a:tc>
                  <a:txBody>
                    <a:bodyPr/>
                    <a:lstStyle/>
                    <a:p>
                      <a:pPr algn="ctr">
                        <a:defRPr sz="1100">
                          <a:solidFill>
                            <a:srgbClr val="FFFFFF"/>
                          </a:solidFill>
                        </a:defRPr>
                      </a:pPr>
                      <a:r>
                        <a:t>RM10.51B</a:t>
                      </a:r>
                    </a:p>
                  </a:txBody>
                  <a:tcPr>
                    <a:solidFill>
                      <a:srgbClr val="16162A"/>
                    </a:solidFill>
                  </a:tcPr>
                </a:tc>
                <a:tc>
                  <a:txBody>
                    <a:bodyPr/>
                    <a:lstStyle/>
                    <a:p>
                      <a:pPr algn="ctr">
                        <a:defRPr sz="1100">
                          <a:solidFill>
                            <a:srgbClr val="FFFFFF"/>
                          </a:solidFill>
                        </a:defRPr>
                      </a:pPr>
                      <a:r>
                        <a:t>RM10.09B</a:t>
                      </a:r>
                    </a:p>
                  </a:txBody>
                  <a:tcPr>
                    <a:solidFill>
                      <a:srgbClr val="16162A"/>
                    </a:solidFill>
                  </a:tcPr>
                </a:tc>
                <a:tc>
                  <a:txBody>
                    <a:bodyPr/>
                    <a:lstStyle/>
                    <a:p>
                      <a:pPr algn="ctr">
                        <a:defRPr sz="1100">
                          <a:solidFill>
                            <a:srgbClr val="FFFFFF"/>
                          </a:solidFill>
                        </a:defRPr>
                      </a:pPr>
                      <a:r>
                        <a:t>+4.2%</a:t>
                      </a:r>
                    </a:p>
                  </a:txBody>
                  <a:tcPr>
                    <a:solidFill>
                      <a:srgbClr val="16162A"/>
                    </a:solidFill>
                  </a:tcPr>
                </a:tc>
                <a:tc>
                  <a:txBody>
                    <a:bodyPr/>
                    <a:lstStyle/>
                    <a:p>
                      <a:pPr algn="ctr">
                        <a:defRPr sz="1100">
                          <a:solidFill>
                            <a:srgbClr val="FFFFFF"/>
                          </a:solidFill>
                        </a:defRPr>
                      </a:pPr>
                      <a:r>
                        <a:t>Up</a:t>
                      </a:r>
                    </a:p>
                  </a:txBody>
                  <a:tcPr>
                    <a:solidFill>
                      <a:srgbClr val="16162A"/>
                    </a:solidFill>
                  </a:tcPr>
                </a:tc>
              </a:tr>
              <a:tr h="457200">
                <a:tc>
                  <a:txBody>
                    <a:bodyPr/>
                    <a:lstStyle/>
                    <a:p>
                      <a:pPr algn="ctr">
                        <a:defRPr sz="1100">
                          <a:solidFill>
                            <a:srgbClr val="FFFFFF"/>
                          </a:solidFill>
                        </a:defRPr>
                      </a:pPr>
                      <a:r>
                        <a:t>Earnings Per Share</a:t>
                      </a:r>
                    </a:p>
                  </a:txBody>
                  <a:tcPr>
                    <a:solidFill>
                      <a:srgbClr val="1A1A2E"/>
                    </a:solidFill>
                  </a:tcPr>
                </a:tc>
                <a:tc>
                  <a:txBody>
                    <a:bodyPr/>
                    <a:lstStyle/>
                    <a:p>
                      <a:pPr algn="ctr">
                        <a:defRPr sz="1100">
                          <a:solidFill>
                            <a:srgbClr val="FFFFFF"/>
                          </a:solidFill>
                        </a:defRPr>
                      </a:pPr>
                      <a:r>
                        <a:t>~87 sen</a:t>
                      </a:r>
                    </a:p>
                  </a:txBody>
                  <a:tcPr>
                    <a:solidFill>
                      <a:srgbClr val="1A1A2E"/>
                    </a:solidFill>
                  </a:tcPr>
                </a:tc>
                <a:tc>
                  <a:txBody>
                    <a:bodyPr/>
                    <a:lstStyle/>
                    <a:p>
                      <a:pPr algn="ctr">
                        <a:defRPr sz="1100">
                          <a:solidFill>
                            <a:srgbClr val="FFFFFF"/>
                          </a:solidFill>
                        </a:defRPr>
                      </a:pPr>
                      <a:r>
                        <a:t>~83.5 sen</a:t>
                      </a:r>
                    </a:p>
                  </a:txBody>
                  <a:tcPr>
                    <a:solidFill>
                      <a:srgbClr val="1A1A2E"/>
                    </a:solidFill>
                  </a:tcPr>
                </a:tc>
                <a:tc>
                  <a:txBody>
                    <a:bodyPr/>
                    <a:lstStyle/>
                    <a:p>
                      <a:pPr algn="ctr">
                        <a:defRPr sz="1100">
                          <a:solidFill>
                            <a:srgbClr val="FFFFFF"/>
                          </a:solidFill>
                        </a:defRPr>
                      </a:pPr>
                      <a:r>
                        <a:t>+4.2%</a:t>
                      </a:r>
                    </a:p>
                  </a:txBody>
                  <a:tcPr>
                    <a:solidFill>
                      <a:srgbClr val="1A1A2E"/>
                    </a:solidFill>
                  </a:tcPr>
                </a:tc>
                <a:tc>
                  <a:txBody>
                    <a:bodyPr/>
                    <a:lstStyle/>
                    <a:p>
                      <a:pPr algn="ctr">
                        <a:defRPr sz="1100">
                          <a:solidFill>
                            <a:srgbClr val="FFFFFF"/>
                          </a:solidFill>
                        </a:defRPr>
                      </a:pPr>
                      <a:r>
                        <a:t>Up</a:t>
                      </a:r>
                    </a:p>
                  </a:txBody>
                  <a:tcPr>
                    <a:solidFill>
                      <a:srgbClr val="1A1A2E"/>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Key Performance Indicators</a:t>
            </a:r>
          </a:p>
        </p:txBody>
      </p:sp>
      <p:sp>
        <p:nvSpPr>
          <p:cNvPr id="4" name="Rectangle 3"/>
          <p:cNvSpPr/>
          <p:nvPr/>
        </p:nvSpPr>
        <p:spPr>
          <a:xfrm>
            <a:off x="457200" y="182880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2286000" cy="274320"/>
          </a:xfrm>
          <a:prstGeom prst="rect">
            <a:avLst/>
          </a:prstGeom>
          <a:noFill/>
        </p:spPr>
        <p:txBody>
          <a:bodyPr wrap="square">
            <a:spAutoFit/>
          </a:bodyPr>
          <a:lstStyle/>
          <a:p>
            <a:pPr algn="l">
              <a:defRPr sz="1000" b="0">
                <a:solidFill>
                  <a:srgbClr val="7A7A9A"/>
                </a:solidFill>
              </a:defRPr>
            </a:pPr>
            <a:r>
              <a:t>Net Profit</a:t>
            </a:r>
          </a:p>
        </p:txBody>
      </p:sp>
      <p:sp>
        <p:nvSpPr>
          <p:cNvPr id="6" name="TextBox 5"/>
          <p:cNvSpPr txBox="1"/>
          <p:nvPr/>
        </p:nvSpPr>
        <p:spPr>
          <a:xfrm>
            <a:off x="640080" y="2148840"/>
            <a:ext cx="2286000" cy="457200"/>
          </a:xfrm>
          <a:prstGeom prst="rect">
            <a:avLst/>
          </a:prstGeom>
          <a:noFill/>
        </p:spPr>
        <p:txBody>
          <a:bodyPr wrap="square">
            <a:spAutoFit/>
          </a:bodyPr>
          <a:lstStyle/>
          <a:p>
            <a:pPr algn="l">
              <a:defRPr sz="2400" b="1">
                <a:solidFill>
                  <a:srgbClr val="FFFFFF"/>
                </a:solidFill>
              </a:defRPr>
            </a:pPr>
            <a:r>
              <a:t>RM10.51B</a:t>
            </a:r>
          </a:p>
        </p:txBody>
      </p:sp>
      <p:sp>
        <p:nvSpPr>
          <p:cNvPr id="7" name="TextBox 6"/>
          <p:cNvSpPr txBox="1"/>
          <p:nvPr/>
        </p:nvSpPr>
        <p:spPr>
          <a:xfrm>
            <a:off x="640080" y="2606040"/>
            <a:ext cx="2286000" cy="274320"/>
          </a:xfrm>
          <a:prstGeom prst="rect">
            <a:avLst/>
          </a:prstGeom>
          <a:noFill/>
        </p:spPr>
        <p:txBody>
          <a:bodyPr wrap="square">
            <a:spAutoFit/>
          </a:bodyPr>
          <a:lstStyle/>
          <a:p>
            <a:pPr algn="l">
              <a:defRPr sz="1100" b="0">
                <a:solidFill>
                  <a:srgbClr val="4ECCA3"/>
                </a:solidFill>
              </a:defRPr>
            </a:pPr>
            <a:r>
              <a:t>+4.2% YoY</a:t>
            </a:r>
          </a:p>
        </p:txBody>
      </p:sp>
      <p:sp>
        <p:nvSpPr>
          <p:cNvPr id="8" name="Rectangle 7"/>
          <p:cNvSpPr/>
          <p:nvPr/>
        </p:nvSpPr>
        <p:spPr>
          <a:xfrm>
            <a:off x="3337560" y="182880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920240"/>
            <a:ext cx="2286000" cy="274320"/>
          </a:xfrm>
          <a:prstGeom prst="rect">
            <a:avLst/>
          </a:prstGeom>
          <a:noFill/>
        </p:spPr>
        <p:txBody>
          <a:bodyPr wrap="square">
            <a:spAutoFit/>
          </a:bodyPr>
          <a:lstStyle/>
          <a:p>
            <a:pPr algn="l">
              <a:defRPr sz="1000" b="0">
                <a:solidFill>
                  <a:srgbClr val="7A7A9A"/>
                </a:solidFill>
              </a:defRPr>
            </a:pPr>
            <a:r>
              <a:t>ROE</a:t>
            </a:r>
          </a:p>
        </p:txBody>
      </p:sp>
      <p:sp>
        <p:nvSpPr>
          <p:cNvPr id="10" name="TextBox 9"/>
          <p:cNvSpPr txBox="1"/>
          <p:nvPr/>
        </p:nvSpPr>
        <p:spPr>
          <a:xfrm>
            <a:off x="3520440" y="2148840"/>
            <a:ext cx="2286000" cy="457200"/>
          </a:xfrm>
          <a:prstGeom prst="rect">
            <a:avLst/>
          </a:prstGeom>
          <a:noFill/>
        </p:spPr>
        <p:txBody>
          <a:bodyPr wrap="square">
            <a:spAutoFit/>
          </a:bodyPr>
          <a:lstStyle/>
          <a:p>
            <a:pPr algn="l">
              <a:defRPr sz="2400" b="1">
                <a:solidFill>
                  <a:srgbClr val="FFFFFF"/>
                </a:solidFill>
              </a:defRPr>
            </a:pPr>
            <a:r>
              <a:t>11.7%</a:t>
            </a:r>
          </a:p>
        </p:txBody>
      </p:sp>
      <p:sp>
        <p:nvSpPr>
          <p:cNvPr id="11" name="TextBox 10"/>
          <p:cNvSpPr txBox="1"/>
          <p:nvPr/>
        </p:nvSpPr>
        <p:spPr>
          <a:xfrm>
            <a:off x="3520440" y="2606040"/>
            <a:ext cx="2286000" cy="274320"/>
          </a:xfrm>
          <a:prstGeom prst="rect">
            <a:avLst/>
          </a:prstGeom>
          <a:noFill/>
        </p:spPr>
        <p:txBody>
          <a:bodyPr wrap="square">
            <a:spAutoFit/>
          </a:bodyPr>
          <a:lstStyle/>
          <a:p>
            <a:pPr algn="l">
              <a:defRPr sz="1100" b="0">
                <a:solidFill>
                  <a:srgbClr val="4ECCA3"/>
                </a:solidFill>
              </a:defRPr>
            </a:pPr>
            <a:r>
              <a:t>from 11.1% (FY24)</a:t>
            </a:r>
          </a:p>
        </p:txBody>
      </p:sp>
      <p:sp>
        <p:nvSpPr>
          <p:cNvPr id="12" name="Rectangle 11"/>
          <p:cNvSpPr/>
          <p:nvPr/>
        </p:nvSpPr>
        <p:spPr>
          <a:xfrm>
            <a:off x="6217920" y="182880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920240"/>
            <a:ext cx="2286000" cy="274320"/>
          </a:xfrm>
          <a:prstGeom prst="rect">
            <a:avLst/>
          </a:prstGeom>
          <a:noFill/>
        </p:spPr>
        <p:txBody>
          <a:bodyPr wrap="square">
            <a:spAutoFit/>
          </a:bodyPr>
          <a:lstStyle/>
          <a:p>
            <a:pPr algn="l">
              <a:defRPr sz="1000" b="0">
                <a:solidFill>
                  <a:srgbClr val="7A7A9A"/>
                </a:solidFill>
              </a:defRPr>
            </a:pPr>
            <a:r>
              <a:t>Dividend Yield</a:t>
            </a:r>
          </a:p>
        </p:txBody>
      </p:sp>
      <p:sp>
        <p:nvSpPr>
          <p:cNvPr id="14" name="TextBox 13"/>
          <p:cNvSpPr txBox="1"/>
          <p:nvPr/>
        </p:nvSpPr>
        <p:spPr>
          <a:xfrm>
            <a:off x="6400800" y="2148840"/>
            <a:ext cx="2286000" cy="457200"/>
          </a:xfrm>
          <a:prstGeom prst="rect">
            <a:avLst/>
          </a:prstGeom>
          <a:noFill/>
        </p:spPr>
        <p:txBody>
          <a:bodyPr wrap="square">
            <a:spAutoFit/>
          </a:bodyPr>
          <a:lstStyle/>
          <a:p>
            <a:pPr algn="l">
              <a:defRPr sz="2400" b="1">
                <a:solidFill>
                  <a:srgbClr val="FFFFFF"/>
                </a:solidFill>
              </a:defRPr>
            </a:pPr>
            <a:r>
              <a:t>6.0%</a:t>
            </a:r>
          </a:p>
        </p:txBody>
      </p:sp>
      <p:sp>
        <p:nvSpPr>
          <p:cNvPr id="15" name="TextBox 14"/>
          <p:cNvSpPr txBox="1"/>
          <p:nvPr/>
        </p:nvSpPr>
        <p:spPr>
          <a:xfrm>
            <a:off x="6400800" y="2606040"/>
            <a:ext cx="2286000" cy="274320"/>
          </a:xfrm>
          <a:prstGeom prst="rect">
            <a:avLst/>
          </a:prstGeom>
          <a:noFill/>
        </p:spPr>
        <p:txBody>
          <a:bodyPr wrap="square">
            <a:spAutoFit/>
          </a:bodyPr>
          <a:lstStyle/>
          <a:p>
            <a:pPr algn="l">
              <a:defRPr sz="1100" b="0">
                <a:solidFill>
                  <a:srgbClr val="4ECCA3"/>
                </a:solidFill>
              </a:defRPr>
            </a:pPr>
            <a:r>
              <a:t>63 sen/share</a:t>
            </a:r>
          </a:p>
        </p:txBody>
      </p:sp>
      <p:sp>
        <p:nvSpPr>
          <p:cNvPr id="16" name="Rectangle 15"/>
          <p:cNvSpPr/>
          <p:nvPr/>
        </p:nvSpPr>
        <p:spPr>
          <a:xfrm>
            <a:off x="9098280" y="182880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920240"/>
            <a:ext cx="2286000" cy="274320"/>
          </a:xfrm>
          <a:prstGeom prst="rect">
            <a:avLst/>
          </a:prstGeom>
          <a:noFill/>
        </p:spPr>
        <p:txBody>
          <a:bodyPr wrap="square">
            <a:spAutoFit/>
          </a:bodyPr>
          <a:lstStyle/>
          <a:p>
            <a:pPr algn="l">
              <a:defRPr sz="1000" b="0">
                <a:solidFill>
                  <a:srgbClr val="7A7A9A"/>
                </a:solidFill>
              </a:defRPr>
            </a:pPr>
            <a:r>
              <a:t>CET1 Ratio</a:t>
            </a:r>
          </a:p>
        </p:txBody>
      </p:sp>
      <p:sp>
        <p:nvSpPr>
          <p:cNvPr id="18" name="TextBox 17"/>
          <p:cNvSpPr txBox="1"/>
          <p:nvPr/>
        </p:nvSpPr>
        <p:spPr>
          <a:xfrm>
            <a:off x="9281160" y="2148840"/>
            <a:ext cx="2286000" cy="457200"/>
          </a:xfrm>
          <a:prstGeom prst="rect">
            <a:avLst/>
          </a:prstGeom>
          <a:noFill/>
        </p:spPr>
        <p:txBody>
          <a:bodyPr wrap="square">
            <a:spAutoFit/>
          </a:bodyPr>
          <a:lstStyle/>
          <a:p>
            <a:pPr algn="l">
              <a:defRPr sz="2400" b="1">
                <a:solidFill>
                  <a:srgbClr val="FFFFFF"/>
                </a:solidFill>
              </a:defRPr>
            </a:pPr>
            <a:r>
              <a:t>14.9%</a:t>
            </a:r>
          </a:p>
        </p:txBody>
      </p:sp>
      <p:sp>
        <p:nvSpPr>
          <p:cNvPr id="19" name="TextBox 18"/>
          <p:cNvSpPr txBox="1"/>
          <p:nvPr/>
        </p:nvSpPr>
        <p:spPr>
          <a:xfrm>
            <a:off x="9281160" y="2606040"/>
            <a:ext cx="2286000" cy="274320"/>
          </a:xfrm>
          <a:prstGeom prst="rect">
            <a:avLst/>
          </a:prstGeom>
          <a:noFill/>
        </p:spPr>
        <p:txBody>
          <a:bodyPr wrap="square">
            <a:spAutoFit/>
          </a:bodyPr>
          <a:lstStyle/>
          <a:p>
            <a:pPr algn="l">
              <a:defRPr sz="1100" b="0">
                <a:solidFill>
                  <a:srgbClr val="4ECCA3"/>
                </a:solidFill>
              </a:defRPr>
            </a:pPr>
            <a:r>
              <a:t>Well above min 4.5%</a:t>
            </a:r>
          </a:p>
        </p:txBody>
      </p:sp>
      <p:sp>
        <p:nvSpPr>
          <p:cNvPr id="20" name="Rectangle 19"/>
          <p:cNvSpPr/>
          <p:nvPr/>
        </p:nvSpPr>
        <p:spPr>
          <a:xfrm>
            <a:off x="457200" y="384048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31920"/>
            <a:ext cx="2286000" cy="274320"/>
          </a:xfrm>
          <a:prstGeom prst="rect">
            <a:avLst/>
          </a:prstGeom>
          <a:noFill/>
        </p:spPr>
        <p:txBody>
          <a:bodyPr wrap="square">
            <a:spAutoFit/>
          </a:bodyPr>
          <a:lstStyle/>
          <a:p>
            <a:pPr algn="l">
              <a:defRPr sz="1000" b="0">
                <a:solidFill>
                  <a:srgbClr val="7A7A9A"/>
                </a:solidFill>
              </a:defRPr>
            </a:pPr>
            <a:r>
              <a:t>Total Assets</a:t>
            </a:r>
          </a:p>
        </p:txBody>
      </p:sp>
      <p:sp>
        <p:nvSpPr>
          <p:cNvPr id="22" name="TextBox 21"/>
          <p:cNvSpPr txBox="1"/>
          <p:nvPr/>
        </p:nvSpPr>
        <p:spPr>
          <a:xfrm>
            <a:off x="640080" y="4160520"/>
            <a:ext cx="2286000" cy="457200"/>
          </a:xfrm>
          <a:prstGeom prst="rect">
            <a:avLst/>
          </a:prstGeom>
          <a:noFill/>
        </p:spPr>
        <p:txBody>
          <a:bodyPr wrap="square">
            <a:spAutoFit/>
          </a:bodyPr>
          <a:lstStyle/>
          <a:p>
            <a:pPr algn="l">
              <a:defRPr sz="2400" b="1">
                <a:solidFill>
                  <a:srgbClr val="FFFFFF"/>
                </a:solidFill>
              </a:defRPr>
            </a:pPr>
            <a:r>
              <a:t>RM1.05T</a:t>
            </a:r>
          </a:p>
        </p:txBody>
      </p:sp>
      <p:sp>
        <p:nvSpPr>
          <p:cNvPr id="23" name="TextBox 22"/>
          <p:cNvSpPr txBox="1"/>
          <p:nvPr/>
        </p:nvSpPr>
        <p:spPr>
          <a:xfrm>
            <a:off x="640080" y="4617720"/>
            <a:ext cx="2286000" cy="274320"/>
          </a:xfrm>
          <a:prstGeom prst="rect">
            <a:avLst/>
          </a:prstGeom>
          <a:noFill/>
        </p:spPr>
        <p:txBody>
          <a:bodyPr wrap="square">
            <a:spAutoFit/>
          </a:bodyPr>
          <a:lstStyle/>
          <a:p>
            <a:pPr algn="l">
              <a:defRPr sz="1100" b="0">
                <a:solidFill>
                  <a:srgbClr val="8AB4F8"/>
                </a:solidFill>
              </a:defRPr>
            </a:pPr>
            <a:r>
              <a:t>Largest in Malaysia</a:t>
            </a:r>
          </a:p>
        </p:txBody>
      </p:sp>
      <p:sp>
        <p:nvSpPr>
          <p:cNvPr id="24" name="Rectangle 23"/>
          <p:cNvSpPr/>
          <p:nvPr/>
        </p:nvSpPr>
        <p:spPr>
          <a:xfrm>
            <a:off x="3337560" y="384048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3931920"/>
            <a:ext cx="2286000" cy="274320"/>
          </a:xfrm>
          <a:prstGeom prst="rect">
            <a:avLst/>
          </a:prstGeom>
          <a:noFill/>
        </p:spPr>
        <p:txBody>
          <a:bodyPr wrap="square">
            <a:spAutoFit/>
          </a:bodyPr>
          <a:lstStyle/>
          <a:p>
            <a:pPr algn="l">
              <a:defRPr sz="1000" b="0">
                <a:solidFill>
                  <a:srgbClr val="7A7A9A"/>
                </a:solidFill>
              </a:defRPr>
            </a:pPr>
            <a:r>
              <a:t>Loans &amp; Financing</a:t>
            </a:r>
          </a:p>
        </p:txBody>
      </p:sp>
      <p:sp>
        <p:nvSpPr>
          <p:cNvPr id="26" name="TextBox 25"/>
          <p:cNvSpPr txBox="1"/>
          <p:nvPr/>
        </p:nvSpPr>
        <p:spPr>
          <a:xfrm>
            <a:off x="3520440" y="4160520"/>
            <a:ext cx="2286000" cy="457200"/>
          </a:xfrm>
          <a:prstGeom prst="rect">
            <a:avLst/>
          </a:prstGeom>
          <a:noFill/>
        </p:spPr>
        <p:txBody>
          <a:bodyPr wrap="square">
            <a:spAutoFit/>
          </a:bodyPr>
          <a:lstStyle/>
          <a:p>
            <a:pPr algn="l">
              <a:defRPr sz="2400" b="1">
                <a:solidFill>
                  <a:srgbClr val="FFFFFF"/>
                </a:solidFill>
              </a:defRPr>
            </a:pPr>
            <a:r>
              <a:t>RM677.9B</a:t>
            </a:r>
          </a:p>
        </p:txBody>
      </p:sp>
      <p:sp>
        <p:nvSpPr>
          <p:cNvPr id="27" name="TextBox 26"/>
          <p:cNvSpPr txBox="1"/>
          <p:nvPr/>
        </p:nvSpPr>
        <p:spPr>
          <a:xfrm>
            <a:off x="3520440" y="4617720"/>
            <a:ext cx="2286000" cy="274320"/>
          </a:xfrm>
          <a:prstGeom prst="rect">
            <a:avLst/>
          </a:prstGeom>
          <a:noFill/>
        </p:spPr>
        <p:txBody>
          <a:bodyPr wrap="square">
            <a:spAutoFit/>
          </a:bodyPr>
          <a:lstStyle/>
          <a:p>
            <a:pPr algn="l">
              <a:defRPr sz="1100" b="0">
                <a:solidFill>
                  <a:srgbClr val="4ECCA3"/>
                </a:solidFill>
              </a:defRPr>
            </a:pPr>
            <a:r>
              <a:t>+2.7% YoY</a:t>
            </a:r>
          </a:p>
        </p:txBody>
      </p:sp>
      <p:sp>
        <p:nvSpPr>
          <p:cNvPr id="28" name="Rectangle 27"/>
          <p:cNvSpPr/>
          <p:nvPr/>
        </p:nvSpPr>
        <p:spPr>
          <a:xfrm>
            <a:off x="6217920" y="384048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931920"/>
            <a:ext cx="2286000" cy="274320"/>
          </a:xfrm>
          <a:prstGeom prst="rect">
            <a:avLst/>
          </a:prstGeom>
          <a:noFill/>
        </p:spPr>
        <p:txBody>
          <a:bodyPr wrap="square">
            <a:spAutoFit/>
          </a:bodyPr>
          <a:lstStyle/>
          <a:p>
            <a:pPr algn="l">
              <a:defRPr sz="1000" b="0">
                <a:solidFill>
                  <a:srgbClr val="7A7A9A"/>
                </a:solidFill>
              </a:defRPr>
            </a:pPr>
            <a:r>
              <a:t>NIM</a:t>
            </a:r>
          </a:p>
        </p:txBody>
      </p:sp>
      <p:sp>
        <p:nvSpPr>
          <p:cNvPr id="30" name="TextBox 29"/>
          <p:cNvSpPr txBox="1"/>
          <p:nvPr/>
        </p:nvSpPr>
        <p:spPr>
          <a:xfrm>
            <a:off x="6400800" y="4160520"/>
            <a:ext cx="2286000" cy="457200"/>
          </a:xfrm>
          <a:prstGeom prst="rect">
            <a:avLst/>
          </a:prstGeom>
          <a:noFill/>
        </p:spPr>
        <p:txBody>
          <a:bodyPr wrap="square">
            <a:spAutoFit/>
          </a:bodyPr>
          <a:lstStyle/>
          <a:p>
            <a:pPr algn="l">
              <a:defRPr sz="2400" b="1">
                <a:solidFill>
                  <a:srgbClr val="FFFFFF"/>
                </a:solidFill>
              </a:defRPr>
            </a:pPr>
            <a:r>
              <a:t>2.05%</a:t>
            </a:r>
          </a:p>
        </p:txBody>
      </p:sp>
      <p:sp>
        <p:nvSpPr>
          <p:cNvPr id="31" name="TextBox 30"/>
          <p:cNvSpPr txBox="1"/>
          <p:nvPr/>
        </p:nvSpPr>
        <p:spPr>
          <a:xfrm>
            <a:off x="6400800" y="4617720"/>
            <a:ext cx="2286000" cy="274320"/>
          </a:xfrm>
          <a:prstGeom prst="rect">
            <a:avLst/>
          </a:prstGeom>
          <a:noFill/>
        </p:spPr>
        <p:txBody>
          <a:bodyPr wrap="square">
            <a:spAutoFit/>
          </a:bodyPr>
          <a:lstStyle/>
          <a:p>
            <a:pPr algn="l">
              <a:defRPr sz="1100" b="0">
                <a:solidFill>
                  <a:srgbClr val="8AB4F8"/>
                </a:solidFill>
              </a:defRPr>
            </a:pPr>
            <a:r>
              <a:t>Stable YoY</a:t>
            </a:r>
          </a:p>
        </p:txBody>
      </p:sp>
      <p:sp>
        <p:nvSpPr>
          <p:cNvPr id="32" name="Rectangle 31"/>
          <p:cNvSpPr/>
          <p:nvPr/>
        </p:nvSpPr>
        <p:spPr>
          <a:xfrm>
            <a:off x="9098280" y="3840480"/>
            <a:ext cx="2651760" cy="11887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81160" y="3931920"/>
            <a:ext cx="2286000" cy="274320"/>
          </a:xfrm>
          <a:prstGeom prst="rect">
            <a:avLst/>
          </a:prstGeom>
          <a:noFill/>
        </p:spPr>
        <p:txBody>
          <a:bodyPr wrap="square">
            <a:spAutoFit/>
          </a:bodyPr>
          <a:lstStyle/>
          <a:p>
            <a:pPr algn="l">
              <a:defRPr sz="1000" b="0">
                <a:solidFill>
                  <a:srgbClr val="7A7A9A"/>
                </a:solidFill>
              </a:defRPr>
            </a:pPr>
            <a:r>
              <a:t>Div. Payout</a:t>
            </a:r>
          </a:p>
        </p:txBody>
      </p:sp>
      <p:sp>
        <p:nvSpPr>
          <p:cNvPr id="34" name="TextBox 33"/>
          <p:cNvSpPr txBox="1"/>
          <p:nvPr/>
        </p:nvSpPr>
        <p:spPr>
          <a:xfrm>
            <a:off x="9281160" y="4160520"/>
            <a:ext cx="2286000" cy="457200"/>
          </a:xfrm>
          <a:prstGeom prst="rect">
            <a:avLst/>
          </a:prstGeom>
          <a:noFill/>
        </p:spPr>
        <p:txBody>
          <a:bodyPr wrap="square">
            <a:spAutoFit/>
          </a:bodyPr>
          <a:lstStyle/>
          <a:p>
            <a:pPr algn="l">
              <a:defRPr sz="2400" b="1">
                <a:solidFill>
                  <a:srgbClr val="FFFFFF"/>
                </a:solidFill>
              </a:defRPr>
            </a:pPr>
            <a:r>
              <a:t>72.4%</a:t>
            </a:r>
          </a:p>
        </p:txBody>
      </p:sp>
      <p:sp>
        <p:nvSpPr>
          <p:cNvPr id="35" name="TextBox 34"/>
          <p:cNvSpPr txBox="1"/>
          <p:nvPr/>
        </p:nvSpPr>
        <p:spPr>
          <a:xfrm>
            <a:off x="9281160" y="4617720"/>
            <a:ext cx="2286000" cy="274320"/>
          </a:xfrm>
          <a:prstGeom prst="rect">
            <a:avLst/>
          </a:prstGeom>
          <a:noFill/>
        </p:spPr>
        <p:txBody>
          <a:bodyPr wrap="square">
            <a:spAutoFit/>
          </a:bodyPr>
          <a:lstStyle/>
          <a:p>
            <a:pPr algn="l">
              <a:defRPr sz="1100" b="0">
                <a:solidFill>
                  <a:srgbClr val="4ECCA3"/>
                </a:solidFill>
              </a:defRPr>
            </a:pPr>
            <a:r>
              <a:t>Consistent ~72-73%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Balance Sheet Snapshot (FY2025)</a:t>
            </a:r>
          </a:p>
        </p:txBody>
      </p:sp>
      <p:sp>
        <p:nvSpPr>
          <p:cNvPr id="4" name="Rectangle 3"/>
          <p:cNvSpPr/>
          <p:nvPr/>
        </p:nvSpPr>
        <p:spPr>
          <a:xfrm>
            <a:off x="274320" y="1508760"/>
            <a:ext cx="11612880" cy="13716"/>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828800"/>
          <a:ext cx="6400800" cy="3474720"/>
        </p:xfrm>
        <a:graphic>
          <a:graphicData uri="http://schemas.openxmlformats.org/drawingml/2006/table">
            <a:tbl>
              <a:tblPr firstRow="1" bandRow="1">
                <a:tableStyleId>{5C22544A-7EE6-4342-B048-85BDC9FD1C3A}</a:tableStyleId>
              </a:tblPr>
              <a:tblGrid>
                <a:gridCol w="2133600"/>
                <a:gridCol w="2133600"/>
                <a:gridCol w="2133600"/>
              </a:tblGrid>
              <a:tr h="434340">
                <a:tc>
                  <a:txBody>
                    <a:bodyPr/>
                    <a:lstStyle/>
                    <a:p>
                      <a:pPr algn="ctr">
                        <a:defRPr sz="1100" b="1">
                          <a:solidFill>
                            <a:srgbClr val="E94560"/>
                          </a:solidFill>
                        </a:defRPr>
                      </a:pPr>
                      <a:r>
                        <a:t>Item</a:t>
                      </a:r>
                    </a:p>
                  </a:txBody>
                  <a:tcPr>
                    <a:solidFill>
                      <a:srgbClr val="1A1A2E"/>
                    </a:solidFill>
                  </a:tcPr>
                </a:tc>
                <a:tc>
                  <a:txBody>
                    <a:bodyPr/>
                    <a:lstStyle/>
                    <a:p>
                      <a:pPr algn="ctr">
                        <a:defRPr sz="1100" b="1">
                          <a:solidFill>
                            <a:srgbClr val="E94560"/>
                          </a:solidFill>
                        </a:defRPr>
                      </a:pPr>
                      <a:r>
                        <a:t>RM Billion</a:t>
                      </a:r>
                    </a:p>
                  </a:txBody>
                  <a:tcPr>
                    <a:solidFill>
                      <a:srgbClr val="1A1A2E"/>
                    </a:solidFill>
                  </a:tcPr>
                </a:tc>
                <a:tc>
                  <a:txBody>
                    <a:bodyPr/>
                    <a:lstStyle/>
                    <a:p>
                      <a:pPr algn="ctr">
                        <a:defRPr sz="1100" b="1">
                          <a:solidFill>
                            <a:srgbClr val="E94560"/>
                          </a:solidFill>
                        </a:defRPr>
                      </a:pPr>
                      <a:r>
                        <a:t>YoY Change</a:t>
                      </a:r>
                    </a:p>
                  </a:txBody>
                  <a:tcPr>
                    <a:solidFill>
                      <a:srgbClr val="1A1A2E"/>
                    </a:solidFill>
                  </a:tcPr>
                </a:tc>
              </a:tr>
              <a:tr h="434340">
                <a:tc>
                  <a:txBody>
                    <a:bodyPr/>
                    <a:lstStyle/>
                    <a:p>
                      <a:pPr algn="ctr">
                        <a:defRPr sz="1100">
                          <a:solidFill>
                            <a:srgbClr val="FFFFFF"/>
                          </a:solidFill>
                        </a:defRPr>
                      </a:pPr>
                      <a:r>
                        <a:t>Total Assets</a:t>
                      </a:r>
                    </a:p>
                  </a:txBody>
                  <a:tcPr>
                    <a:solidFill>
                      <a:srgbClr val="16162A"/>
                    </a:solidFill>
                  </a:tcPr>
                </a:tc>
                <a:tc>
                  <a:txBody>
                    <a:bodyPr/>
                    <a:lstStyle/>
                    <a:p>
                      <a:pPr algn="ctr">
                        <a:defRPr sz="1100">
                          <a:solidFill>
                            <a:srgbClr val="FFFFFF"/>
                          </a:solidFill>
                        </a:defRPr>
                      </a:pPr>
                      <a:r>
                        <a:t>1,053.6</a:t>
                      </a:r>
                    </a:p>
                  </a:txBody>
                  <a:tcPr>
                    <a:solidFill>
                      <a:srgbClr val="16162A"/>
                    </a:solidFill>
                  </a:tcPr>
                </a:tc>
                <a:tc>
                  <a:txBody>
                    <a:bodyPr/>
                    <a:lstStyle/>
                    <a:p>
                      <a:pPr algn="ctr">
                        <a:defRPr sz="1100">
                          <a:solidFill>
                            <a:srgbClr val="FFFFFF"/>
                          </a:solidFill>
                        </a:defRPr>
                      </a:pPr>
                      <a:r>
                        <a:t>-2.0%</a:t>
                      </a:r>
                    </a:p>
                  </a:txBody>
                  <a:tcPr>
                    <a:solidFill>
                      <a:srgbClr val="16162A"/>
                    </a:solidFill>
                  </a:tcPr>
                </a:tc>
              </a:tr>
              <a:tr h="434340">
                <a:tc>
                  <a:txBody>
                    <a:bodyPr/>
                    <a:lstStyle/>
                    <a:p>
                      <a:pPr algn="ctr">
                        <a:defRPr sz="1100">
                          <a:solidFill>
                            <a:srgbClr val="FFFFFF"/>
                          </a:solidFill>
                        </a:defRPr>
                      </a:pPr>
                      <a:r>
                        <a:t>Loans &amp; Financing</a:t>
                      </a:r>
                    </a:p>
                  </a:txBody>
                  <a:tcPr>
                    <a:solidFill>
                      <a:srgbClr val="1A1A2E"/>
                    </a:solidFill>
                  </a:tcPr>
                </a:tc>
                <a:tc>
                  <a:txBody>
                    <a:bodyPr/>
                    <a:lstStyle/>
                    <a:p>
                      <a:pPr algn="ctr">
                        <a:defRPr sz="1100">
                          <a:solidFill>
                            <a:srgbClr val="FFFFFF"/>
                          </a:solidFill>
                        </a:defRPr>
                      </a:pPr>
                      <a:r>
                        <a:t>677.9</a:t>
                      </a:r>
                    </a:p>
                  </a:txBody>
                  <a:tcPr>
                    <a:solidFill>
                      <a:srgbClr val="1A1A2E"/>
                    </a:solidFill>
                  </a:tcPr>
                </a:tc>
                <a:tc>
                  <a:txBody>
                    <a:bodyPr/>
                    <a:lstStyle/>
                    <a:p>
                      <a:pPr algn="ctr">
                        <a:defRPr sz="1100">
                          <a:solidFill>
                            <a:srgbClr val="FFFFFF"/>
                          </a:solidFill>
                        </a:defRPr>
                      </a:pPr>
                      <a:r>
                        <a:t>+2.7%</a:t>
                      </a:r>
                    </a:p>
                  </a:txBody>
                  <a:tcPr>
                    <a:solidFill>
                      <a:srgbClr val="1A1A2E"/>
                    </a:solidFill>
                  </a:tcPr>
                </a:tc>
              </a:tr>
              <a:tr h="434340">
                <a:tc>
                  <a:txBody>
                    <a:bodyPr/>
                    <a:lstStyle/>
                    <a:p>
                      <a:pPr algn="ctr">
                        <a:defRPr sz="1100">
                          <a:solidFill>
                            <a:srgbClr val="FFFFFF"/>
                          </a:solidFill>
                        </a:defRPr>
                      </a:pPr>
                      <a:r>
                        <a:t>Financial Investments</a:t>
                      </a:r>
                    </a:p>
                  </a:txBody>
                  <a:tcPr>
                    <a:solidFill>
                      <a:srgbClr val="16162A"/>
                    </a:solidFill>
                  </a:tcPr>
                </a:tc>
                <a:tc>
                  <a:txBody>
                    <a:bodyPr/>
                    <a:lstStyle/>
                    <a:p>
                      <a:pPr algn="ctr">
                        <a:defRPr sz="1100">
                          <a:solidFill>
                            <a:srgbClr val="FFFFFF"/>
                          </a:solidFill>
                        </a:defRPr>
                      </a:pPr>
                      <a:r>
                        <a:t>256.7</a:t>
                      </a:r>
                    </a:p>
                  </a:txBody>
                  <a:tcPr>
                    <a:solidFill>
                      <a:srgbClr val="16162A"/>
                    </a:solidFill>
                  </a:tcPr>
                </a:tc>
                <a:tc>
                  <a:txBody>
                    <a:bodyPr/>
                    <a:lstStyle/>
                    <a:p>
                      <a:pPr algn="ctr">
                        <a:defRPr sz="1100">
                          <a:solidFill>
                            <a:srgbClr val="FFFFFF"/>
                          </a:solidFill>
                        </a:defRPr>
                      </a:pPr>
                      <a:r>
                        <a:t>+1.2%</a:t>
                      </a:r>
                    </a:p>
                  </a:txBody>
                  <a:tcPr>
                    <a:solidFill>
                      <a:srgbClr val="16162A"/>
                    </a:solidFill>
                  </a:tcPr>
                </a:tc>
              </a:tr>
              <a:tr h="434340">
                <a:tc>
                  <a:txBody>
                    <a:bodyPr/>
                    <a:lstStyle/>
                    <a:p>
                      <a:pPr algn="ctr">
                        <a:defRPr sz="1100">
                          <a:solidFill>
                            <a:srgbClr val="FFFFFF"/>
                          </a:solidFill>
                        </a:defRPr>
                      </a:pPr>
                      <a:r>
                        <a:t>Total Deposits</a:t>
                      </a:r>
                    </a:p>
                  </a:txBody>
                  <a:tcPr>
                    <a:solidFill>
                      <a:srgbClr val="1A1A2E"/>
                    </a:solidFill>
                  </a:tcPr>
                </a:tc>
                <a:tc>
                  <a:txBody>
                    <a:bodyPr/>
                    <a:lstStyle/>
                    <a:p>
                      <a:pPr algn="ctr">
                        <a:defRPr sz="1100">
                          <a:solidFill>
                            <a:srgbClr val="FFFFFF"/>
                          </a:solidFill>
                        </a:defRPr>
                      </a:pPr>
                      <a:r>
                        <a:t>739.1</a:t>
                      </a:r>
                    </a:p>
                  </a:txBody>
                  <a:tcPr>
                    <a:solidFill>
                      <a:srgbClr val="1A1A2E"/>
                    </a:solidFill>
                  </a:tcPr>
                </a:tc>
                <a:tc>
                  <a:txBody>
                    <a:bodyPr/>
                    <a:lstStyle/>
                    <a:p>
                      <a:pPr algn="ctr">
                        <a:defRPr sz="1100">
                          <a:solidFill>
                            <a:srgbClr val="FFFFFF"/>
                          </a:solidFill>
                        </a:defRPr>
                      </a:pPr>
                      <a:r>
                        <a:t>+4.7%</a:t>
                      </a:r>
                    </a:p>
                  </a:txBody>
                  <a:tcPr>
                    <a:solidFill>
                      <a:srgbClr val="1A1A2E"/>
                    </a:solidFill>
                  </a:tcPr>
                </a:tc>
              </a:tr>
              <a:tr h="434340">
                <a:tc>
                  <a:txBody>
                    <a:bodyPr/>
                    <a:lstStyle/>
                    <a:p>
                      <a:pPr algn="ctr">
                        <a:defRPr sz="1100">
                          <a:solidFill>
                            <a:srgbClr val="FFFFFF"/>
                          </a:solidFill>
                        </a:defRPr>
                      </a:pPr>
                      <a:r>
                        <a:t>CASA Balances</a:t>
                      </a:r>
                    </a:p>
                  </a:txBody>
                  <a:tcPr>
                    <a:solidFill>
                      <a:srgbClr val="16162A"/>
                    </a:solidFill>
                  </a:tcPr>
                </a:tc>
                <a:tc>
                  <a:txBody>
                    <a:bodyPr/>
                    <a:lstStyle/>
                    <a:p>
                      <a:pPr algn="ctr">
                        <a:defRPr sz="1100">
                          <a:solidFill>
                            <a:srgbClr val="FFFFFF"/>
                          </a:solidFill>
                        </a:defRPr>
                      </a:pPr>
                      <a:r>
                        <a:t>295.0</a:t>
                      </a:r>
                    </a:p>
                  </a:txBody>
                  <a:tcPr>
                    <a:solidFill>
                      <a:srgbClr val="16162A"/>
                    </a:solidFill>
                  </a:tcPr>
                </a:tc>
                <a:tc>
                  <a:txBody>
                    <a:bodyPr/>
                    <a:lstStyle/>
                    <a:p>
                      <a:pPr algn="ctr">
                        <a:defRPr sz="1100">
                          <a:solidFill>
                            <a:srgbClr val="FFFFFF"/>
                          </a:solidFill>
                        </a:defRPr>
                      </a:pPr>
                      <a:r>
                        <a:t>+15.2%</a:t>
                      </a:r>
                    </a:p>
                  </a:txBody>
                  <a:tcPr>
                    <a:solidFill>
                      <a:srgbClr val="16162A"/>
                    </a:solidFill>
                  </a:tcPr>
                </a:tc>
              </a:tr>
              <a:tr h="434340">
                <a:tc>
                  <a:txBody>
                    <a:bodyPr/>
                    <a:lstStyle/>
                    <a:p>
                      <a:pPr algn="ctr">
                        <a:defRPr sz="1100">
                          <a:solidFill>
                            <a:srgbClr val="FFFFFF"/>
                          </a:solidFill>
                        </a:defRPr>
                      </a:pPr>
                      <a:r>
                        <a:t>Fixed Deposits</a:t>
                      </a:r>
                    </a:p>
                  </a:txBody>
                  <a:tcPr>
                    <a:solidFill>
                      <a:srgbClr val="1A1A2E"/>
                    </a:solidFill>
                  </a:tcPr>
                </a:tc>
                <a:tc>
                  <a:txBody>
                    <a:bodyPr/>
                    <a:lstStyle/>
                    <a:p>
                      <a:pPr algn="ctr">
                        <a:defRPr sz="1100">
                          <a:solidFill>
                            <a:srgbClr val="FFFFFF"/>
                          </a:solidFill>
                        </a:defRPr>
                      </a:pPr>
                      <a:r>
                        <a:t>358.9</a:t>
                      </a:r>
                    </a:p>
                  </a:txBody>
                  <a:tcPr>
                    <a:solidFill>
                      <a:srgbClr val="1A1A2E"/>
                    </a:solidFill>
                  </a:tcPr>
                </a:tc>
                <a:tc>
                  <a:txBody>
                    <a:bodyPr/>
                    <a:lstStyle/>
                    <a:p>
                      <a:pPr algn="ctr">
                        <a:defRPr sz="1100">
                          <a:solidFill>
                            <a:srgbClr val="FFFFFF"/>
                          </a:solidFill>
                        </a:defRPr>
                      </a:pPr>
                      <a:r>
                        <a:t>+4.1%</a:t>
                      </a:r>
                    </a:p>
                  </a:txBody>
                  <a:tcPr>
                    <a:solidFill>
                      <a:srgbClr val="1A1A2E"/>
                    </a:solidFill>
                  </a:tcPr>
                </a:tc>
              </a:tr>
              <a:tr h="434340">
                <a:tc>
                  <a:txBody>
                    <a:bodyPr/>
                    <a:lstStyle/>
                    <a:p>
                      <a:pPr algn="ctr">
                        <a:defRPr sz="1100">
                          <a:solidFill>
                            <a:srgbClr val="FFFFFF"/>
                          </a:solidFill>
                        </a:defRPr>
                      </a:pPr>
                      <a:r>
                        <a:t>Shareholders' Equity</a:t>
                      </a:r>
                    </a:p>
                  </a:txBody>
                  <a:tcPr>
                    <a:solidFill>
                      <a:srgbClr val="16162A"/>
                    </a:solidFill>
                  </a:tcPr>
                </a:tc>
                <a:tc>
                  <a:txBody>
                    <a:bodyPr/>
                    <a:lstStyle/>
                    <a:p>
                      <a:pPr algn="ctr">
                        <a:defRPr sz="1100">
                          <a:solidFill>
                            <a:srgbClr val="FFFFFF"/>
                          </a:solidFill>
                        </a:defRPr>
                      </a:pPr>
                      <a:r>
                        <a:t>~98.6</a:t>
                      </a:r>
                    </a:p>
                  </a:txBody>
                  <a:tcPr>
                    <a:solidFill>
                      <a:srgbClr val="16162A"/>
                    </a:solidFill>
                  </a:tcPr>
                </a:tc>
                <a:tc>
                  <a:txBody>
                    <a:bodyPr/>
                    <a:lstStyle/>
                    <a:p>
                      <a:pPr algn="ctr">
                        <a:defRPr sz="1100">
                          <a:solidFill>
                            <a:srgbClr val="FFFFFF"/>
                          </a:solidFill>
                        </a:defRPr>
                      </a:pPr>
                      <a:r>
                        <a:t>+5.2%*</a:t>
                      </a:r>
                    </a:p>
                  </a:txBody>
                  <a:tcPr>
                    <a:solidFill>
                      <a:srgbClr val="16162A"/>
                    </a:solidFill>
                  </a:tcPr>
                </a:tc>
              </a:tr>
            </a:tbl>
          </a:graphicData>
        </a:graphic>
      </p:graphicFrame>
      <p:graphicFrame>
        <p:nvGraphicFramePr>
          <p:cNvPr id="6" name="Chart 5"/>
          <p:cNvGraphicFramePr>
            <a:graphicFrameLocks noGrp="1"/>
          </p:cNvGraphicFramePr>
          <p:nvPr/>
        </p:nvGraphicFramePr>
        <p:xfrm>
          <a:off x="7315200" y="1645920"/>
          <a:ext cx="45720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Key Financial Ratios &amp; Dividend</a:t>
            </a:r>
          </a:p>
        </p:txBody>
      </p:sp>
      <p:graphicFrame>
        <p:nvGraphicFramePr>
          <p:cNvPr id="4" name="Table 3"/>
          <p:cNvGraphicFramePr>
            <a:graphicFrameLocks noGrp="1"/>
          </p:cNvGraphicFramePr>
          <p:nvPr/>
        </p:nvGraphicFramePr>
        <p:xfrm>
          <a:off x="457200" y="1828800"/>
          <a:ext cx="6858000" cy="4114800"/>
        </p:xfrm>
        <a:graphic>
          <a:graphicData uri="http://schemas.openxmlformats.org/drawingml/2006/table">
            <a:tbl>
              <a:tblPr firstRow="1" bandRow="1">
                <a:tableStyleId>{5C22544A-7EE6-4342-B048-85BDC9FD1C3A}</a:tableStyleId>
              </a:tblPr>
              <a:tblGrid>
                <a:gridCol w="1714500"/>
                <a:gridCol w="1714500"/>
                <a:gridCol w="1714500"/>
                <a:gridCol w="1714500"/>
              </a:tblGrid>
              <a:tr h="411480">
                <a:tc>
                  <a:txBody>
                    <a:bodyPr/>
                    <a:lstStyle/>
                    <a:p>
                      <a:pPr algn="ctr">
                        <a:defRPr sz="1000" b="1">
                          <a:solidFill>
                            <a:srgbClr val="E94560"/>
                          </a:solidFill>
                        </a:defRPr>
                      </a:pPr>
                      <a:r>
                        <a:t>Ratio</a:t>
                      </a:r>
                    </a:p>
                  </a:txBody>
                  <a:tcPr>
                    <a:solidFill>
                      <a:srgbClr val="1A1A2E"/>
                    </a:solidFill>
                  </a:tcPr>
                </a:tc>
                <a:tc>
                  <a:txBody>
                    <a:bodyPr/>
                    <a:lstStyle/>
                    <a:p>
                      <a:pPr algn="ctr">
                        <a:defRPr sz="1000" b="1">
                          <a:solidFill>
                            <a:srgbClr val="E94560"/>
                          </a:solidFill>
                        </a:defRPr>
                      </a:pPr>
                      <a:r>
                        <a:t>FY2025</a:t>
                      </a:r>
                    </a:p>
                  </a:txBody>
                  <a:tcPr>
                    <a:solidFill>
                      <a:srgbClr val="1A1A2E"/>
                    </a:solidFill>
                  </a:tcPr>
                </a:tc>
                <a:tc>
                  <a:txBody>
                    <a:bodyPr/>
                    <a:lstStyle/>
                    <a:p>
                      <a:pPr algn="ctr">
                        <a:defRPr sz="1000" b="1">
                          <a:solidFill>
                            <a:srgbClr val="E94560"/>
                          </a:solidFill>
                        </a:defRPr>
                      </a:pPr>
                      <a:r>
                        <a:t>FY2024</a:t>
                      </a:r>
                    </a:p>
                  </a:txBody>
                  <a:tcPr>
                    <a:solidFill>
                      <a:srgbClr val="1A1A2E"/>
                    </a:solidFill>
                  </a:tcPr>
                </a:tc>
                <a:tc>
                  <a:txBody>
                    <a:bodyPr/>
                    <a:lstStyle/>
                    <a:p>
                      <a:pPr algn="ctr">
                        <a:defRPr sz="1000" b="1">
                          <a:solidFill>
                            <a:srgbClr val="E94560"/>
                          </a:solidFill>
                        </a:defRPr>
                      </a:pPr>
                      <a:r>
                        <a:t>Change</a:t>
                      </a:r>
                    </a:p>
                  </a:txBody>
                  <a:tcPr>
                    <a:solidFill>
                      <a:srgbClr val="1A1A2E"/>
                    </a:solidFill>
                  </a:tcPr>
                </a:tc>
              </a:tr>
              <a:tr h="411480">
                <a:tc>
                  <a:txBody>
                    <a:bodyPr/>
                    <a:lstStyle/>
                    <a:p>
                      <a:pPr algn="ctr">
                        <a:defRPr sz="1000">
                          <a:solidFill>
                            <a:srgbClr val="FFFFFF"/>
                          </a:solidFill>
                        </a:defRPr>
                      </a:pPr>
                      <a:r>
                        <a:t>ROE</a:t>
                      </a:r>
                    </a:p>
                  </a:txBody>
                  <a:tcPr>
                    <a:solidFill>
                      <a:srgbClr val="16162A"/>
                    </a:solidFill>
                  </a:tcPr>
                </a:tc>
                <a:tc>
                  <a:txBody>
                    <a:bodyPr/>
                    <a:lstStyle/>
                    <a:p>
                      <a:pPr algn="ctr">
                        <a:defRPr sz="1000">
                          <a:solidFill>
                            <a:srgbClr val="FFFFFF"/>
                          </a:solidFill>
                        </a:defRPr>
                      </a:pPr>
                      <a:r>
                        <a:t>11.7%</a:t>
                      </a:r>
                    </a:p>
                  </a:txBody>
                  <a:tcPr>
                    <a:solidFill>
                      <a:srgbClr val="16162A"/>
                    </a:solidFill>
                  </a:tcPr>
                </a:tc>
                <a:tc>
                  <a:txBody>
                    <a:bodyPr/>
                    <a:lstStyle/>
                    <a:p>
                      <a:pPr algn="ctr">
                        <a:defRPr sz="1000">
                          <a:solidFill>
                            <a:srgbClr val="FFFFFF"/>
                          </a:solidFill>
                        </a:defRPr>
                      </a:pPr>
                      <a:r>
                        <a:t>11.1%</a:t>
                      </a:r>
                    </a:p>
                  </a:txBody>
                  <a:tcPr>
                    <a:solidFill>
                      <a:srgbClr val="16162A"/>
                    </a:solidFill>
                  </a:tcPr>
                </a:tc>
                <a:tc>
                  <a:txBody>
                    <a:bodyPr/>
                    <a:lstStyle/>
                    <a:p>
                      <a:pPr algn="ctr">
                        <a:defRPr sz="1000">
                          <a:solidFill>
                            <a:srgbClr val="FFFFFF"/>
                          </a:solidFill>
                        </a:defRPr>
                      </a:pPr>
                      <a:r>
                        <a:t>+60 bps</a:t>
                      </a:r>
                    </a:p>
                  </a:txBody>
                  <a:tcPr>
                    <a:solidFill>
                      <a:srgbClr val="16162A"/>
                    </a:solidFill>
                  </a:tcPr>
                </a:tc>
              </a:tr>
              <a:tr h="411480">
                <a:tc>
                  <a:txBody>
                    <a:bodyPr/>
                    <a:lstStyle/>
                    <a:p>
                      <a:pPr algn="ctr">
                        <a:defRPr sz="1000">
                          <a:solidFill>
                            <a:srgbClr val="FFFFFF"/>
                          </a:solidFill>
                        </a:defRPr>
                      </a:pPr>
                      <a:r>
                        <a:t>NIM</a:t>
                      </a:r>
                    </a:p>
                  </a:txBody>
                  <a:tcPr>
                    <a:solidFill>
                      <a:srgbClr val="1A1A2E"/>
                    </a:solidFill>
                  </a:tcPr>
                </a:tc>
                <a:tc>
                  <a:txBody>
                    <a:bodyPr/>
                    <a:lstStyle/>
                    <a:p>
                      <a:pPr algn="ctr">
                        <a:defRPr sz="1000">
                          <a:solidFill>
                            <a:srgbClr val="FFFFFF"/>
                          </a:solidFill>
                        </a:defRPr>
                      </a:pPr>
                      <a:r>
                        <a:t>2.05%</a:t>
                      </a:r>
                    </a:p>
                  </a:txBody>
                  <a:tcPr>
                    <a:solidFill>
                      <a:srgbClr val="1A1A2E"/>
                    </a:solidFill>
                  </a:tcPr>
                </a:tc>
                <a:tc>
                  <a:txBody>
                    <a:bodyPr/>
                    <a:lstStyle/>
                    <a:p>
                      <a:pPr algn="ctr">
                        <a:defRPr sz="1000">
                          <a:solidFill>
                            <a:srgbClr val="FFFFFF"/>
                          </a:solidFill>
                        </a:defRPr>
                      </a:pPr>
                      <a:r>
                        <a:t>2.05%</a:t>
                      </a:r>
                    </a:p>
                  </a:txBody>
                  <a:tcPr>
                    <a:solidFill>
                      <a:srgbClr val="1A1A2E"/>
                    </a:solidFill>
                  </a:tcPr>
                </a:tc>
                <a:tc>
                  <a:txBody>
                    <a:bodyPr/>
                    <a:lstStyle/>
                    <a:p>
                      <a:pPr algn="ctr">
                        <a:defRPr sz="1000">
                          <a:solidFill>
                            <a:srgbClr val="FFFFFF"/>
                          </a:solidFill>
                        </a:defRPr>
                      </a:pPr>
                      <a:r>
                        <a:t>Stable</a:t>
                      </a:r>
                    </a:p>
                  </a:txBody>
                  <a:tcPr>
                    <a:solidFill>
                      <a:srgbClr val="1A1A2E"/>
                    </a:solidFill>
                  </a:tcPr>
                </a:tc>
              </a:tr>
              <a:tr h="411480">
                <a:tc>
                  <a:txBody>
                    <a:bodyPr/>
                    <a:lstStyle/>
                    <a:p>
                      <a:pPr algn="ctr">
                        <a:defRPr sz="1000">
                          <a:solidFill>
                            <a:srgbClr val="FFFFFF"/>
                          </a:solidFill>
                        </a:defRPr>
                      </a:pPr>
                      <a:r>
                        <a:t>Cost-to-Income</a:t>
                      </a:r>
                    </a:p>
                  </a:txBody>
                  <a:tcPr>
                    <a:solidFill>
                      <a:srgbClr val="16162A"/>
                    </a:solidFill>
                  </a:tcPr>
                </a:tc>
                <a:tc>
                  <a:txBody>
                    <a:bodyPr/>
                    <a:lstStyle/>
                    <a:p>
                      <a:pPr algn="ctr">
                        <a:defRPr sz="1000">
                          <a:solidFill>
                            <a:srgbClr val="FFFFFF"/>
                          </a:solidFill>
                        </a:defRPr>
                      </a:pPr>
                      <a:r>
                        <a:t>48.8%</a:t>
                      </a:r>
                    </a:p>
                  </a:txBody>
                  <a:tcPr>
                    <a:solidFill>
                      <a:srgbClr val="16162A"/>
                    </a:solidFill>
                  </a:tcPr>
                </a:tc>
                <a:tc>
                  <a:txBody>
                    <a:bodyPr/>
                    <a:lstStyle/>
                    <a:p>
                      <a:pPr algn="ctr">
                        <a:defRPr sz="1000">
                          <a:solidFill>
                            <a:srgbClr val="FFFFFF"/>
                          </a:solidFill>
                        </a:defRPr>
                      </a:pPr>
                      <a:r>
                        <a:t>~48.9%</a:t>
                      </a:r>
                    </a:p>
                  </a:txBody>
                  <a:tcPr>
                    <a:solidFill>
                      <a:srgbClr val="16162A"/>
                    </a:solidFill>
                  </a:tcPr>
                </a:tc>
                <a:tc>
                  <a:txBody>
                    <a:bodyPr/>
                    <a:lstStyle/>
                    <a:p>
                      <a:pPr algn="ctr">
                        <a:defRPr sz="1000">
                          <a:solidFill>
                            <a:srgbClr val="FFFFFF"/>
                          </a:solidFill>
                        </a:defRPr>
                      </a:pPr>
                      <a:r>
                        <a:t>-10 bps</a:t>
                      </a:r>
                    </a:p>
                  </a:txBody>
                  <a:tcPr>
                    <a:solidFill>
                      <a:srgbClr val="16162A"/>
                    </a:solidFill>
                  </a:tcPr>
                </a:tc>
              </a:tr>
              <a:tr h="411480">
                <a:tc>
                  <a:txBody>
                    <a:bodyPr/>
                    <a:lstStyle/>
                    <a:p>
                      <a:pPr algn="ctr">
                        <a:defRPr sz="1000">
                          <a:solidFill>
                            <a:srgbClr val="FFFFFF"/>
                          </a:solidFill>
                        </a:defRPr>
                      </a:pPr>
                      <a:r>
                        <a:t>CET1 Ratio</a:t>
                      </a:r>
                    </a:p>
                  </a:txBody>
                  <a:tcPr>
                    <a:solidFill>
                      <a:srgbClr val="1A1A2E"/>
                    </a:solidFill>
                  </a:tcPr>
                </a:tc>
                <a:tc>
                  <a:txBody>
                    <a:bodyPr/>
                    <a:lstStyle/>
                    <a:p>
                      <a:pPr algn="ctr">
                        <a:defRPr sz="1000">
                          <a:solidFill>
                            <a:srgbClr val="FFFFFF"/>
                          </a:solidFill>
                        </a:defRPr>
                      </a:pPr>
                      <a:r>
                        <a:t>14.9%</a:t>
                      </a:r>
                    </a:p>
                  </a:txBody>
                  <a:tcPr>
                    <a:solidFill>
                      <a:srgbClr val="1A1A2E"/>
                    </a:solidFill>
                  </a:tcPr>
                </a:tc>
                <a:tc>
                  <a:txBody>
                    <a:bodyPr/>
                    <a:lstStyle/>
                    <a:p>
                      <a:pPr algn="ctr">
                        <a:defRPr sz="1000">
                          <a:solidFill>
                            <a:srgbClr val="FFFFFF"/>
                          </a:solidFill>
                        </a:defRPr>
                      </a:pPr>
                      <a:r>
                        <a:t>~14.6%</a:t>
                      </a:r>
                    </a:p>
                  </a:txBody>
                  <a:tcPr>
                    <a:solidFill>
                      <a:srgbClr val="1A1A2E"/>
                    </a:solidFill>
                  </a:tcPr>
                </a:tc>
                <a:tc>
                  <a:txBody>
                    <a:bodyPr/>
                    <a:lstStyle/>
                    <a:p>
                      <a:pPr algn="ctr">
                        <a:defRPr sz="1000">
                          <a:solidFill>
                            <a:srgbClr val="FFFFFF"/>
                          </a:solidFill>
                        </a:defRPr>
                      </a:pPr>
                      <a:r>
                        <a:t>+30 bps</a:t>
                      </a:r>
                    </a:p>
                  </a:txBody>
                  <a:tcPr>
                    <a:solidFill>
                      <a:srgbClr val="1A1A2E"/>
                    </a:solidFill>
                  </a:tcPr>
                </a:tc>
              </a:tr>
              <a:tr h="411480">
                <a:tc>
                  <a:txBody>
                    <a:bodyPr/>
                    <a:lstStyle/>
                    <a:p>
                      <a:pPr algn="ctr">
                        <a:defRPr sz="1000">
                          <a:solidFill>
                            <a:srgbClr val="FFFFFF"/>
                          </a:solidFill>
                        </a:defRPr>
                      </a:pPr>
                      <a:r>
                        <a:t>Total Capital Ratio</a:t>
                      </a:r>
                    </a:p>
                  </a:txBody>
                  <a:tcPr>
                    <a:solidFill>
                      <a:srgbClr val="16162A"/>
                    </a:solidFill>
                  </a:tcPr>
                </a:tc>
                <a:tc>
                  <a:txBody>
                    <a:bodyPr/>
                    <a:lstStyle/>
                    <a:p>
                      <a:pPr algn="ctr">
                        <a:defRPr sz="1000">
                          <a:solidFill>
                            <a:srgbClr val="FFFFFF"/>
                          </a:solidFill>
                        </a:defRPr>
                      </a:pPr>
                      <a:r>
                        <a:t>19.3%</a:t>
                      </a:r>
                    </a:p>
                  </a:txBody>
                  <a:tcPr>
                    <a:solidFill>
                      <a:srgbClr val="16162A"/>
                    </a:solidFill>
                  </a:tcPr>
                </a:tc>
                <a:tc>
                  <a:txBody>
                    <a:bodyPr/>
                    <a:lstStyle/>
                    <a:p>
                      <a:pPr algn="ctr">
                        <a:defRPr sz="1000">
                          <a:solidFill>
                            <a:srgbClr val="FFFFFF"/>
                          </a:solidFill>
                        </a:defRPr>
                      </a:pPr>
                      <a:r>
                        <a:t>~18.9%</a:t>
                      </a:r>
                    </a:p>
                  </a:txBody>
                  <a:tcPr>
                    <a:solidFill>
                      <a:srgbClr val="16162A"/>
                    </a:solidFill>
                  </a:tcPr>
                </a:tc>
                <a:tc>
                  <a:txBody>
                    <a:bodyPr/>
                    <a:lstStyle/>
                    <a:p>
                      <a:pPr algn="ctr">
                        <a:defRPr sz="1000">
                          <a:solidFill>
                            <a:srgbClr val="FFFFFF"/>
                          </a:solidFill>
                        </a:defRPr>
                      </a:pPr>
                      <a:r>
                        <a:t>+40 bps</a:t>
                      </a:r>
                    </a:p>
                  </a:txBody>
                  <a:tcPr>
                    <a:solidFill>
                      <a:srgbClr val="16162A"/>
                    </a:solidFill>
                  </a:tcPr>
                </a:tc>
              </a:tr>
              <a:tr h="411480">
                <a:tc>
                  <a:txBody>
                    <a:bodyPr/>
                    <a:lstStyle/>
                    <a:p>
                      <a:pPr algn="ctr">
                        <a:defRPr sz="1000">
                          <a:solidFill>
                            <a:srgbClr val="FFFFFF"/>
                          </a:solidFill>
                        </a:defRPr>
                      </a:pPr>
                      <a:r>
                        <a:t>LCR</a:t>
                      </a:r>
                    </a:p>
                  </a:txBody>
                  <a:tcPr>
                    <a:solidFill>
                      <a:srgbClr val="1A1A2E"/>
                    </a:solidFill>
                  </a:tcPr>
                </a:tc>
                <a:tc>
                  <a:txBody>
                    <a:bodyPr/>
                    <a:lstStyle/>
                    <a:p>
                      <a:pPr algn="ctr">
                        <a:defRPr sz="1000">
                          <a:solidFill>
                            <a:srgbClr val="FFFFFF"/>
                          </a:solidFill>
                        </a:defRPr>
                      </a:pPr>
                      <a:r>
                        <a:t>141.2%</a:t>
                      </a:r>
                    </a:p>
                  </a:txBody>
                  <a:tcPr>
                    <a:solidFill>
                      <a:srgbClr val="1A1A2E"/>
                    </a:solidFill>
                  </a:tcPr>
                </a:tc>
                <a:tc>
                  <a:txBody>
                    <a:bodyPr/>
                    <a:lstStyle/>
                    <a:p>
                      <a:pPr algn="ctr">
                        <a:defRPr sz="1000">
                          <a:solidFill>
                            <a:srgbClr val="FFFFFF"/>
                          </a:solidFill>
                        </a:defRPr>
                      </a:pPr>
                      <a:r>
                        <a:t>~138%</a:t>
                      </a:r>
                    </a:p>
                  </a:txBody>
                  <a:tcPr>
                    <a:solidFill>
                      <a:srgbClr val="1A1A2E"/>
                    </a:solidFill>
                  </a:tcPr>
                </a:tc>
                <a:tc>
                  <a:txBody>
                    <a:bodyPr/>
                    <a:lstStyle/>
                    <a:p>
                      <a:pPr algn="ctr">
                        <a:defRPr sz="1000">
                          <a:solidFill>
                            <a:srgbClr val="FFFFFF"/>
                          </a:solidFill>
                        </a:defRPr>
                      </a:pPr>
                      <a:r>
                        <a:t>+320 bps</a:t>
                      </a:r>
                    </a:p>
                  </a:txBody>
                  <a:tcPr>
                    <a:solidFill>
                      <a:srgbClr val="1A1A2E"/>
                    </a:solidFill>
                  </a:tcPr>
                </a:tc>
              </a:tr>
              <a:tr h="411480">
                <a:tc>
                  <a:txBody>
                    <a:bodyPr/>
                    <a:lstStyle/>
                    <a:p>
                      <a:pPr algn="ctr">
                        <a:defRPr sz="1000">
                          <a:solidFill>
                            <a:srgbClr val="FFFFFF"/>
                          </a:solidFill>
                        </a:defRPr>
                      </a:pPr>
                      <a:r>
                        <a:t>Gross Impaired Loans</a:t>
                      </a:r>
                    </a:p>
                  </a:txBody>
                  <a:tcPr>
                    <a:solidFill>
                      <a:srgbClr val="16162A"/>
                    </a:solidFill>
                  </a:tcPr>
                </a:tc>
                <a:tc>
                  <a:txBody>
                    <a:bodyPr/>
                    <a:lstStyle/>
                    <a:p>
                      <a:pPr algn="ctr">
                        <a:defRPr sz="1000">
                          <a:solidFill>
                            <a:srgbClr val="FFFFFF"/>
                          </a:solidFill>
                        </a:defRPr>
                      </a:pPr>
                      <a:r>
                        <a:t>~1.15%</a:t>
                      </a:r>
                    </a:p>
                  </a:txBody>
                  <a:tcPr>
                    <a:solidFill>
                      <a:srgbClr val="16162A"/>
                    </a:solidFill>
                  </a:tcPr>
                </a:tc>
                <a:tc>
                  <a:txBody>
                    <a:bodyPr/>
                    <a:lstStyle/>
                    <a:p>
                      <a:pPr algn="ctr">
                        <a:defRPr sz="1000">
                          <a:solidFill>
                            <a:srgbClr val="FFFFFF"/>
                          </a:solidFill>
                        </a:defRPr>
                      </a:pPr>
                      <a:r>
                        <a:t>1.23%</a:t>
                      </a:r>
                    </a:p>
                  </a:txBody>
                  <a:tcPr>
                    <a:solidFill>
                      <a:srgbClr val="16162A"/>
                    </a:solidFill>
                  </a:tcPr>
                </a:tc>
                <a:tc>
                  <a:txBody>
                    <a:bodyPr/>
                    <a:lstStyle/>
                    <a:p>
                      <a:pPr algn="ctr">
                        <a:defRPr sz="1000">
                          <a:solidFill>
                            <a:srgbClr val="FFFFFF"/>
                          </a:solidFill>
                        </a:defRPr>
                      </a:pPr>
                      <a:r>
                        <a:t>-8 bps</a:t>
                      </a:r>
                    </a:p>
                  </a:txBody>
                  <a:tcPr>
                    <a:solidFill>
                      <a:srgbClr val="16162A"/>
                    </a:solidFill>
                  </a:tcPr>
                </a:tc>
              </a:tr>
              <a:tr h="411480">
                <a:tc>
                  <a:txBody>
                    <a:bodyPr/>
                    <a:lstStyle/>
                    <a:p>
                      <a:pPr algn="ctr">
                        <a:defRPr sz="1000">
                          <a:solidFill>
                            <a:srgbClr val="FFFFFF"/>
                          </a:solidFill>
                        </a:defRPr>
                      </a:pPr>
                      <a:r>
                        <a:t>Loan Loss Coverage</a:t>
                      </a:r>
                    </a:p>
                  </a:txBody>
                  <a:tcPr>
                    <a:solidFill>
                      <a:srgbClr val="1A1A2E"/>
                    </a:solidFill>
                  </a:tcPr>
                </a:tc>
                <a:tc>
                  <a:txBody>
                    <a:bodyPr/>
                    <a:lstStyle/>
                    <a:p>
                      <a:pPr algn="ctr">
                        <a:defRPr sz="1000">
                          <a:solidFill>
                            <a:srgbClr val="FFFFFF"/>
                          </a:solidFill>
                        </a:defRPr>
                      </a:pPr>
                      <a:r>
                        <a:t>~128%</a:t>
                      </a:r>
                    </a:p>
                  </a:txBody>
                  <a:tcPr>
                    <a:solidFill>
                      <a:srgbClr val="1A1A2E"/>
                    </a:solidFill>
                  </a:tcPr>
                </a:tc>
                <a:tc>
                  <a:txBody>
                    <a:bodyPr/>
                    <a:lstStyle/>
                    <a:p>
                      <a:pPr algn="ctr">
                        <a:defRPr sz="1000">
                          <a:solidFill>
                            <a:srgbClr val="FFFFFF"/>
                          </a:solidFill>
                        </a:defRPr>
                      </a:pPr>
                      <a:r>
                        <a:t>126.9%</a:t>
                      </a:r>
                    </a:p>
                  </a:txBody>
                  <a:tcPr>
                    <a:solidFill>
                      <a:srgbClr val="1A1A2E"/>
                    </a:solidFill>
                  </a:tcPr>
                </a:tc>
                <a:tc>
                  <a:txBody>
                    <a:bodyPr/>
                    <a:lstStyle/>
                    <a:p>
                      <a:pPr algn="ctr">
                        <a:defRPr sz="1000">
                          <a:solidFill>
                            <a:srgbClr val="FFFFFF"/>
                          </a:solidFill>
                        </a:defRPr>
                      </a:pPr>
                      <a:r>
                        <a:t>+110 bps</a:t>
                      </a:r>
                    </a:p>
                  </a:txBody>
                  <a:tcPr>
                    <a:solidFill>
                      <a:srgbClr val="1A1A2E"/>
                    </a:solidFill>
                  </a:tcPr>
                </a:tc>
              </a:tr>
              <a:tr h="411480">
                <a:tc>
                  <a:txBody>
                    <a:bodyPr/>
                    <a:lstStyle/>
                    <a:p>
                      <a:pPr algn="ctr">
                        <a:defRPr sz="1000">
                          <a:solidFill>
                            <a:srgbClr val="FFFFFF"/>
                          </a:solidFill>
                        </a:defRPr>
                      </a:pPr>
                      <a:r>
                        <a:t>Net Credit Charge Off</a:t>
                      </a:r>
                    </a:p>
                  </a:txBody>
                  <a:tcPr>
                    <a:solidFill>
                      <a:srgbClr val="16162A"/>
                    </a:solidFill>
                  </a:tcPr>
                </a:tc>
                <a:tc>
                  <a:txBody>
                    <a:bodyPr/>
                    <a:lstStyle/>
                    <a:p>
                      <a:pPr algn="ctr">
                        <a:defRPr sz="1000">
                          <a:solidFill>
                            <a:srgbClr val="FFFFFF"/>
                          </a:solidFill>
                        </a:defRPr>
                      </a:pPr>
                      <a:r>
                        <a:t>~24 bps</a:t>
                      </a:r>
                    </a:p>
                  </a:txBody>
                  <a:tcPr>
                    <a:solidFill>
                      <a:srgbClr val="16162A"/>
                    </a:solidFill>
                  </a:tcPr>
                </a:tc>
                <a:tc>
                  <a:txBody>
                    <a:bodyPr/>
                    <a:lstStyle/>
                    <a:p>
                      <a:pPr algn="ctr">
                        <a:defRPr sz="1000">
                          <a:solidFill>
                            <a:srgbClr val="FFFFFF"/>
                          </a:solidFill>
                        </a:defRPr>
                      </a:pPr>
                      <a:r>
                        <a:t>26 bps</a:t>
                      </a:r>
                    </a:p>
                  </a:txBody>
                  <a:tcPr>
                    <a:solidFill>
                      <a:srgbClr val="16162A"/>
                    </a:solidFill>
                  </a:tcPr>
                </a:tc>
                <a:tc>
                  <a:txBody>
                    <a:bodyPr/>
                    <a:lstStyle/>
                    <a:p>
                      <a:pPr algn="ctr">
                        <a:defRPr sz="1000">
                          <a:solidFill>
                            <a:srgbClr val="FFFFFF"/>
                          </a:solidFill>
                        </a:defRPr>
                      </a:pPr>
                      <a:r>
                        <a:t>-2 bps</a:t>
                      </a:r>
                    </a:p>
                  </a:txBody>
                  <a:tcPr>
                    <a:solidFill>
                      <a:srgbClr val="16162A"/>
                    </a:solidFill>
                  </a:tcPr>
                </a:tc>
              </a:tr>
            </a:tbl>
          </a:graphicData>
        </a:graphic>
      </p:graphicFrame>
      <p:graphicFrame>
        <p:nvGraphicFramePr>
          <p:cNvPr id="5" name="Chart 4"/>
          <p:cNvGraphicFramePr>
            <a:graphicFrameLocks noGrp="1"/>
          </p:cNvGraphicFramePr>
          <p:nvPr/>
        </p:nvGraphicFramePr>
        <p:xfrm>
          <a:off x="7772400" y="164592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Geographic &amp; Segment Performance</a:t>
            </a:r>
          </a:p>
        </p:txBody>
      </p:sp>
      <p:sp>
        <p:nvSpPr>
          <p:cNvPr id="4" name="Rectangle 3"/>
          <p:cNvSpPr/>
          <p:nvPr/>
        </p:nvSpPr>
        <p:spPr>
          <a:xfrm>
            <a:off x="274320" y="1508760"/>
            <a:ext cx="11612880" cy="13716"/>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1828800"/>
          <a:ext cx="11247120" cy="2560320"/>
        </p:xfrm>
        <a:graphic>
          <a:graphicData uri="http://schemas.openxmlformats.org/drawingml/2006/table">
            <a:tbl>
              <a:tblPr firstRow="1" bandRow="1">
                <a:tableStyleId>{5C22544A-7EE6-4342-B048-85BDC9FD1C3A}</a:tableStyleId>
              </a:tblPr>
              <a:tblGrid>
                <a:gridCol w="2811780"/>
                <a:gridCol w="2811780"/>
                <a:gridCol w="2811780"/>
                <a:gridCol w="2811780"/>
              </a:tblGrid>
              <a:tr h="512064">
                <a:tc>
                  <a:txBody>
                    <a:bodyPr/>
                    <a:lstStyle/>
                    <a:p>
                      <a:pPr algn="ctr">
                        <a:defRPr sz="1000" b="1">
                          <a:solidFill>
                            <a:srgbClr val="E94560"/>
                          </a:solidFill>
                        </a:defRPr>
                      </a:pPr>
                      <a:r>
                        <a:t>Market</a:t>
                      </a:r>
                    </a:p>
                  </a:txBody>
                  <a:tcPr>
                    <a:solidFill>
                      <a:srgbClr val="1A1A2E"/>
                    </a:solidFill>
                  </a:tcPr>
                </a:tc>
                <a:tc>
                  <a:txBody>
                    <a:bodyPr/>
                    <a:lstStyle/>
                    <a:p>
                      <a:pPr algn="ctr">
                        <a:defRPr sz="1000" b="1">
                          <a:solidFill>
                            <a:srgbClr val="E94560"/>
                          </a:solidFill>
                        </a:defRPr>
                      </a:pPr>
                      <a:r>
                        <a:t>Loans (RM B)</a:t>
                      </a:r>
                    </a:p>
                  </a:txBody>
                  <a:tcPr>
                    <a:solidFill>
                      <a:srgbClr val="1A1A2E"/>
                    </a:solidFill>
                  </a:tcPr>
                </a:tc>
                <a:tc>
                  <a:txBody>
                    <a:bodyPr/>
                    <a:lstStyle/>
                    <a:p>
                      <a:pPr algn="ctr">
                        <a:defRPr sz="1000" b="1">
                          <a:solidFill>
                            <a:srgbClr val="E94560"/>
                          </a:solidFill>
                        </a:defRPr>
                      </a:pPr>
                      <a:r>
                        <a:t>YoY Growth</a:t>
                      </a:r>
                    </a:p>
                  </a:txBody>
                  <a:tcPr>
                    <a:solidFill>
                      <a:srgbClr val="1A1A2E"/>
                    </a:solidFill>
                  </a:tcPr>
                </a:tc>
                <a:tc>
                  <a:txBody>
                    <a:bodyPr/>
                    <a:lstStyle/>
                    <a:p>
                      <a:pPr algn="ctr">
                        <a:defRPr sz="1000" b="1">
                          <a:solidFill>
                            <a:srgbClr val="E94560"/>
                          </a:solidFill>
                        </a:defRPr>
                      </a:pPr>
                      <a:r>
                        <a:t>Key Driver</a:t>
                      </a:r>
                    </a:p>
                  </a:txBody>
                  <a:tcPr>
                    <a:solidFill>
                      <a:srgbClr val="1A1A2E"/>
                    </a:solidFill>
                  </a:tcPr>
                </a:tc>
              </a:tr>
              <a:tr h="512064">
                <a:tc>
                  <a:txBody>
                    <a:bodyPr/>
                    <a:lstStyle/>
                    <a:p>
                      <a:pPr algn="ctr">
                        <a:defRPr sz="1000">
                          <a:solidFill>
                            <a:srgbClr val="FFFFFF"/>
                          </a:solidFill>
                        </a:defRPr>
                      </a:pPr>
                      <a:r>
                        <a:t>Malaysia</a:t>
                      </a:r>
                    </a:p>
                  </a:txBody>
                  <a:tcPr>
                    <a:solidFill>
                      <a:srgbClr val="16162A"/>
                    </a:solidFill>
                  </a:tcPr>
                </a:tc>
                <a:tc>
                  <a:txBody>
                    <a:bodyPr/>
                    <a:lstStyle/>
                    <a:p>
                      <a:pPr algn="ctr">
                        <a:defRPr sz="1000">
                          <a:solidFill>
                            <a:srgbClr val="FFFFFF"/>
                          </a:solidFill>
                        </a:defRPr>
                      </a:pPr>
                      <a:r>
                        <a:t>435.2</a:t>
                      </a:r>
                    </a:p>
                  </a:txBody>
                  <a:tcPr>
                    <a:solidFill>
                      <a:srgbClr val="16162A"/>
                    </a:solidFill>
                  </a:tcPr>
                </a:tc>
                <a:tc>
                  <a:txBody>
                    <a:bodyPr/>
                    <a:lstStyle/>
                    <a:p>
                      <a:pPr algn="ctr">
                        <a:defRPr sz="1000">
                          <a:solidFill>
                            <a:srgbClr val="FFFFFF"/>
                          </a:solidFill>
                        </a:defRPr>
                      </a:pPr>
                      <a:r>
                        <a:t>+6.0%</a:t>
                      </a:r>
                    </a:p>
                  </a:txBody>
                  <a:tcPr>
                    <a:solidFill>
                      <a:srgbClr val="16162A"/>
                    </a:solidFill>
                  </a:tcPr>
                </a:tc>
                <a:tc>
                  <a:txBody>
                    <a:bodyPr/>
                    <a:lstStyle/>
                    <a:p>
                      <a:pPr algn="ctr">
                        <a:defRPr sz="1000">
                          <a:solidFill>
                            <a:srgbClr val="FFFFFF"/>
                          </a:solidFill>
                        </a:defRPr>
                      </a:pPr>
                      <a:r>
                        <a:t>Core earnings; strong CASA +15.2%</a:t>
                      </a:r>
                    </a:p>
                  </a:txBody>
                  <a:tcPr>
                    <a:solidFill>
                      <a:srgbClr val="16162A"/>
                    </a:solidFill>
                  </a:tcPr>
                </a:tc>
              </a:tr>
              <a:tr h="512064">
                <a:tc>
                  <a:txBody>
                    <a:bodyPr/>
                    <a:lstStyle/>
                    <a:p>
                      <a:pPr algn="ctr">
                        <a:defRPr sz="1000">
                          <a:solidFill>
                            <a:srgbClr val="FFFFFF"/>
                          </a:solidFill>
                        </a:defRPr>
                      </a:pPr>
                      <a:r>
                        <a:t>Singapore</a:t>
                      </a:r>
                    </a:p>
                  </a:txBody>
                  <a:tcPr>
                    <a:solidFill>
                      <a:srgbClr val="1A1A2E"/>
                    </a:solidFill>
                  </a:tcPr>
                </a:tc>
                <a:tc>
                  <a:txBody>
                    <a:bodyPr/>
                    <a:lstStyle/>
                    <a:p>
                      <a:pPr algn="ctr">
                        <a:defRPr sz="1000">
                          <a:solidFill>
                            <a:srgbClr val="FFFFFF"/>
                          </a:solidFill>
                        </a:defRPr>
                      </a:pPr>
                      <a:r>
                        <a:t>~165</a:t>
                      </a:r>
                    </a:p>
                  </a:txBody>
                  <a:tcPr>
                    <a:solidFill>
                      <a:srgbClr val="1A1A2E"/>
                    </a:solidFill>
                  </a:tcPr>
                </a:tc>
                <a:tc>
                  <a:txBody>
                    <a:bodyPr/>
                    <a:lstStyle/>
                    <a:p>
                      <a:pPr algn="ctr">
                        <a:defRPr sz="1000">
                          <a:solidFill>
                            <a:srgbClr val="FFFFFF"/>
                          </a:solidFill>
                        </a:defRPr>
                      </a:pPr>
                      <a:r>
                        <a:t>+1.5%</a:t>
                      </a:r>
                    </a:p>
                  </a:txBody>
                  <a:tcPr>
                    <a:solidFill>
                      <a:srgbClr val="1A1A2E"/>
                    </a:solidFill>
                  </a:tcPr>
                </a:tc>
                <a:tc>
                  <a:txBody>
                    <a:bodyPr/>
                    <a:lstStyle/>
                    <a:p>
                      <a:pPr algn="ctr">
                        <a:defRPr sz="1000">
                          <a:solidFill>
                            <a:srgbClr val="FFFFFF"/>
                          </a:solidFill>
                        </a:defRPr>
                      </a:pPr>
                      <a:r>
                        <a:t>Stable regional contribution</a:t>
                      </a:r>
                    </a:p>
                  </a:txBody>
                  <a:tcPr>
                    <a:solidFill>
                      <a:srgbClr val="1A1A2E"/>
                    </a:solidFill>
                  </a:tcPr>
                </a:tc>
              </a:tr>
              <a:tr h="512064">
                <a:tc>
                  <a:txBody>
                    <a:bodyPr/>
                    <a:lstStyle/>
                    <a:p>
                      <a:pPr algn="ctr">
                        <a:defRPr sz="1000">
                          <a:solidFill>
                            <a:srgbClr val="FFFFFF"/>
                          </a:solidFill>
                        </a:defRPr>
                      </a:pPr>
                      <a:r>
                        <a:t>Indonesia</a:t>
                      </a:r>
                    </a:p>
                  </a:txBody>
                  <a:tcPr>
                    <a:solidFill>
                      <a:srgbClr val="16162A"/>
                    </a:solidFill>
                  </a:tcPr>
                </a:tc>
                <a:tc>
                  <a:txBody>
                    <a:bodyPr/>
                    <a:lstStyle/>
                    <a:p>
                      <a:pPr algn="ctr">
                        <a:defRPr sz="1000">
                          <a:solidFill>
                            <a:srgbClr val="FFFFFF"/>
                          </a:solidFill>
                        </a:defRPr>
                      </a:pPr>
                      <a:r>
                        <a:t>~55</a:t>
                      </a:r>
                    </a:p>
                  </a:txBody>
                  <a:tcPr>
                    <a:solidFill>
                      <a:srgbClr val="16162A"/>
                    </a:solidFill>
                  </a:tcPr>
                </a:tc>
                <a:tc>
                  <a:txBody>
                    <a:bodyPr/>
                    <a:lstStyle/>
                    <a:p>
                      <a:pPr algn="ctr">
                        <a:defRPr sz="1000">
                          <a:solidFill>
                            <a:srgbClr val="FFFFFF"/>
                          </a:solidFill>
                        </a:defRPr>
                      </a:pPr>
                      <a:r>
                        <a:t>-0.5%</a:t>
                      </a:r>
                    </a:p>
                  </a:txBody>
                  <a:tcPr>
                    <a:solidFill>
                      <a:srgbClr val="16162A"/>
                    </a:solidFill>
                  </a:tcPr>
                </a:tc>
                <a:tc>
                  <a:txBody>
                    <a:bodyPr/>
                    <a:lstStyle/>
                    <a:p>
                      <a:pPr algn="ctr">
                        <a:defRPr sz="1000">
                          <a:solidFill>
                            <a:srgbClr val="FFFFFF"/>
                          </a:solidFill>
                        </a:defRPr>
                      </a:pPr>
                      <a:r>
                        <a:t>Corporate portfolio rebalancing</a:t>
                      </a:r>
                    </a:p>
                  </a:txBody>
                  <a:tcPr>
                    <a:solidFill>
                      <a:srgbClr val="16162A"/>
                    </a:solidFill>
                  </a:tcPr>
                </a:tc>
              </a:tr>
              <a:tr h="512064">
                <a:tc>
                  <a:txBody>
                    <a:bodyPr/>
                    <a:lstStyle/>
                    <a:p>
                      <a:pPr algn="ctr">
                        <a:defRPr sz="1000">
                          <a:solidFill>
                            <a:srgbClr val="FFFFFF"/>
                          </a:solidFill>
                        </a:defRPr>
                      </a:pPr>
                      <a:r>
                        <a:t>Others / International</a:t>
                      </a:r>
                    </a:p>
                  </a:txBody>
                  <a:tcPr>
                    <a:solidFill>
                      <a:srgbClr val="1A1A2E"/>
                    </a:solidFill>
                  </a:tcPr>
                </a:tc>
                <a:tc>
                  <a:txBody>
                    <a:bodyPr/>
                    <a:lstStyle/>
                    <a:p>
                      <a:pPr algn="ctr">
                        <a:defRPr sz="1000">
                          <a:solidFill>
                            <a:srgbClr val="FFFFFF"/>
                          </a:solidFill>
                        </a:defRPr>
                      </a:pPr>
                      <a:r>
                        <a:t>~22</a:t>
                      </a:r>
                    </a:p>
                  </a:txBody>
                  <a:tcPr>
                    <a:solidFill>
                      <a:srgbClr val="1A1A2E"/>
                    </a:solidFill>
                  </a:tcPr>
                </a:tc>
                <a:tc>
                  <a:txBody>
                    <a:bodyPr/>
                    <a:lstStyle/>
                    <a:p>
                      <a:pPr algn="ctr">
                        <a:defRPr sz="1000">
                          <a:solidFill>
                            <a:srgbClr val="FFFFFF"/>
                          </a:solidFill>
                        </a:defRPr>
                      </a:pPr>
                      <a:r>
                        <a:t>~</a:t>
                      </a:r>
                    </a:p>
                  </a:txBody>
                  <a:tcPr>
                    <a:solidFill>
                      <a:srgbClr val="1A1A2E"/>
                    </a:solidFill>
                  </a:tcPr>
                </a:tc>
                <a:tc>
                  <a:txBody>
                    <a:bodyPr/>
                    <a:lstStyle/>
                    <a:p>
                      <a:pPr algn="ctr">
                        <a:defRPr sz="1000">
                          <a:solidFill>
                            <a:srgbClr val="FFFFFF"/>
                          </a:solidFill>
                        </a:defRPr>
                      </a:pPr>
                      <a:r>
                        <a:t>ASEAN-wide presence</a:t>
                      </a:r>
                    </a:p>
                  </a:txBody>
                  <a:tcPr>
                    <a:solidFill>
                      <a:srgbClr val="1A1A2E"/>
                    </a:solidFill>
                  </a:tcPr>
                </a:tc>
              </a:tr>
            </a:tbl>
          </a:graphicData>
        </a:graphic>
      </p:graphicFrame>
      <p:sp>
        <p:nvSpPr>
          <p:cNvPr id="6" name="TextBox 5"/>
          <p:cNvSpPr txBox="1"/>
          <p:nvPr/>
        </p:nvSpPr>
        <p:spPr>
          <a:xfrm>
            <a:off x="457200" y="4754880"/>
            <a:ext cx="10972800" cy="1828800"/>
          </a:xfrm>
          <a:prstGeom prst="rect">
            <a:avLst/>
          </a:prstGeom>
          <a:noFill/>
        </p:spPr>
        <p:txBody>
          <a:bodyPr wrap="square">
            <a:spAutoFit/>
          </a:bodyPr>
          <a:lstStyle/>
          <a:p>
            <a:pPr>
              <a:spcAft>
                <a:spcPts val="400"/>
              </a:spcAft>
              <a:defRPr sz="1200" b="1">
                <a:solidFill>
                  <a:srgbClr val="A0A0B8"/>
                </a:solidFill>
              </a:defRPr>
            </a:pPr>
            <a:r>
              <a:t>GROWTH DRIVERS:</a:t>
            </a:r>
          </a:p>
          <a:p>
            <a:pPr>
              <a:spcAft>
                <a:spcPts val="400"/>
              </a:spcAft>
              <a:defRPr sz="1200">
                <a:solidFill>
                  <a:srgbClr val="A0A0B8"/>
                </a:solidFill>
              </a:defRPr>
            </a:pPr>
            <a:r>
              <a:t> Malaysia: Loans +6.0%, CASA +15.2%, core profit engine</a:t>
            </a:r>
          </a:p>
          <a:p>
            <a:pPr>
              <a:spcAft>
                <a:spcPts val="400"/>
              </a:spcAft>
              <a:defRPr sz="1200">
                <a:solidFill>
                  <a:srgbClr val="A0A0B8"/>
                </a:solidFill>
              </a:defRPr>
            </a:pPr>
            <a:r>
              <a:t> Wealth Management &amp; Insurance: Key NOII driver, fee income from wealth &amp; IB up</a:t>
            </a:r>
          </a:p>
          <a:p>
            <a:pPr>
              <a:spcAft>
                <a:spcPts val="400"/>
              </a:spcAft>
              <a:defRPr sz="1200">
                <a:solidFill>
                  <a:srgbClr val="A0A0B8"/>
                </a:solidFill>
              </a:defRPr>
            </a:pPr>
            <a:r>
              <a:t> Islamic Banking: Largest Islamic bank in ASEAN; sustainable finance RM156B</a:t>
            </a:r>
          </a:p>
          <a:p>
            <a:pPr>
              <a:spcAft>
                <a:spcPts val="400"/>
              </a:spcAft>
              <a:defRPr sz="1200">
                <a:solidFill>
                  <a:srgbClr val="A0A0B8"/>
                </a:solidFill>
              </a:defRPr>
            </a:pPr>
            <a:r>
              <a:t> Digital: Agile@Scale, hyper-personalization, digital banking expansion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0" y="1005840"/>
            <a:ext cx="54864" cy="45720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05840"/>
            <a:ext cx="10972800" cy="457200"/>
          </a:xfrm>
          <a:prstGeom prst="rect">
            <a:avLst/>
          </a:prstGeom>
          <a:noFill/>
        </p:spPr>
        <p:txBody>
          <a:bodyPr wrap="square">
            <a:spAutoFit/>
          </a:bodyPr>
          <a:lstStyle/>
          <a:p>
            <a:pPr algn="l">
              <a:defRPr sz="2800" b="1">
                <a:solidFill>
                  <a:srgbClr val="FFFFFF"/>
                </a:solidFill>
              </a:defRPr>
            </a:pPr>
            <a:r>
              <a:t>Analysis Summary &amp; Outlook</a:t>
            </a:r>
          </a:p>
        </p:txBody>
      </p:sp>
      <p:sp>
        <p:nvSpPr>
          <p:cNvPr id="4" name="Rectangle 3"/>
          <p:cNvSpPr/>
          <p:nvPr/>
        </p:nvSpPr>
        <p:spPr>
          <a:xfrm>
            <a:off x="274320" y="1508760"/>
            <a:ext cx="11612880" cy="13716"/>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5303520" cy="4572000"/>
          </a:xfrm>
          <a:prstGeom prst="rect">
            <a:avLst/>
          </a:prstGeom>
          <a:noFill/>
        </p:spPr>
        <p:txBody>
          <a:bodyPr wrap="square">
            <a:spAutoFit/>
          </a:bodyPr>
          <a:lstStyle/>
          <a:p>
            <a:pPr>
              <a:spcAft>
                <a:spcPts val="400"/>
              </a:spcAft>
              <a:defRPr sz="1200" b="1">
                <a:solidFill>
                  <a:srgbClr val="4ECCA3"/>
                </a:solidFill>
              </a:defRPr>
            </a:pPr>
            <a:r>
              <a:t>STRENGTHS</a:t>
            </a:r>
          </a:p>
          <a:p>
            <a:pPr>
              <a:spcAft>
                <a:spcPts val="400"/>
              </a:spcAft>
              <a:defRPr sz="1200">
                <a:solidFill>
                  <a:srgbClr val="4ECCA3"/>
                </a:solidFill>
              </a:defRPr>
            </a:pPr>
            <a:r>
              <a:t>Record net profit RM10.51B (+4.2%)</a:t>
            </a:r>
          </a:p>
          <a:p>
            <a:pPr>
              <a:spcAft>
                <a:spcPts val="400"/>
              </a:spcAft>
              <a:defRPr sz="1200">
                <a:solidFill>
                  <a:srgbClr val="4ECCA3"/>
                </a:solidFill>
              </a:defRPr>
            </a:pPr>
            <a:r>
              <a:t>Strong capital: CET1 14.9%, Total Capital 19.3%</a:t>
            </a:r>
          </a:p>
          <a:p>
            <a:pPr>
              <a:spcAft>
                <a:spcPts val="400"/>
              </a:spcAft>
              <a:defRPr sz="1200">
                <a:solidFill>
                  <a:srgbClr val="4ECCA3"/>
                </a:solidFill>
              </a:defRPr>
            </a:pPr>
            <a:r>
              <a:t>High liquidity: LCR 141.2%</a:t>
            </a:r>
          </a:p>
          <a:p>
            <a:pPr>
              <a:spcAft>
                <a:spcPts val="400"/>
              </a:spcAft>
              <a:defRPr sz="1200">
                <a:solidFill>
                  <a:srgbClr val="4ECCA3"/>
                </a:solidFill>
              </a:defRPr>
            </a:pPr>
            <a:r>
              <a:t>ROE improving to 11.7%</a:t>
            </a:r>
          </a:p>
          <a:p>
            <a:pPr>
              <a:spcAft>
                <a:spcPts val="400"/>
              </a:spcAft>
              <a:defRPr sz="1200">
                <a:solidFill>
                  <a:srgbClr val="4ECCA3"/>
                </a:solidFill>
              </a:defRPr>
            </a:pPr>
            <a:r>
              <a:t>Market-leading dividend yield 6.0%</a:t>
            </a:r>
          </a:p>
          <a:p>
            <a:pPr>
              <a:spcAft>
                <a:spcPts val="400"/>
              </a:spcAft>
              <a:defRPr sz="1200">
                <a:solidFill>
                  <a:srgbClr val="4ECCA3"/>
                </a:solidFill>
              </a:defRPr>
            </a:pPr>
            <a:r>
              <a:t>Improving asset quality (GIL 1.15%)</a:t>
            </a:r>
          </a:p>
          <a:p>
            <a:pPr>
              <a:spcAft>
                <a:spcPts val="400"/>
              </a:spcAft>
              <a:defRPr sz="1200">
                <a:solidFill>
                  <a:srgbClr val="4ECCA3"/>
                </a:solidFill>
              </a:defRPr>
            </a:pPr>
            <a:r>
              <a:t>#1 in Malaysia, top Islamic bank in ASEAN</a:t>
            </a:r>
          </a:p>
          <a:p>
            <a:pPr>
              <a:spcAft>
                <a:spcPts val="400"/>
              </a:spcAft>
              <a:defRPr sz="1200">
                <a:solidFill>
                  <a:srgbClr val="4ECCA3"/>
                </a:solidFill>
              </a:defRPr>
            </a:pPr>
            <a:r>
              <a:t>Exceeded all sustainability targets</a:t>
            </a:r>
          </a:p>
        </p:txBody>
      </p:sp>
      <p:sp>
        <p:nvSpPr>
          <p:cNvPr id="6" name="TextBox 5"/>
          <p:cNvSpPr txBox="1"/>
          <p:nvPr/>
        </p:nvSpPr>
        <p:spPr>
          <a:xfrm>
            <a:off x="6400800" y="1828800"/>
            <a:ext cx="5303520" cy="4572000"/>
          </a:xfrm>
          <a:prstGeom prst="rect">
            <a:avLst/>
          </a:prstGeom>
          <a:noFill/>
        </p:spPr>
        <p:txBody>
          <a:bodyPr wrap="square">
            <a:spAutoFit/>
          </a:bodyPr>
          <a:lstStyle/>
          <a:p>
            <a:pPr>
              <a:spcAft>
                <a:spcPts val="400"/>
              </a:spcAft>
              <a:defRPr sz="1200" b="1">
                <a:solidFill>
                  <a:srgbClr val="E94560"/>
                </a:solidFill>
              </a:defRPr>
            </a:pPr>
            <a:r>
              <a:t>RISKS &amp; CONSIDERATIONS</a:t>
            </a:r>
          </a:p>
          <a:p>
            <a:pPr>
              <a:spcAft>
                <a:spcPts val="400"/>
              </a:spcAft>
              <a:defRPr sz="1200">
                <a:solidFill>
                  <a:srgbClr val="E94560"/>
                </a:solidFill>
              </a:defRPr>
            </a:pPr>
            <a:r>
              <a:t>NIM under pressure from regional rate cuts</a:t>
            </a:r>
          </a:p>
          <a:p>
            <a:pPr>
              <a:spcAft>
                <a:spcPts val="400"/>
              </a:spcAft>
              <a:defRPr sz="1200">
                <a:solidFill>
                  <a:srgbClr val="E94560"/>
                </a:solidFill>
              </a:defRPr>
            </a:pPr>
            <a:r>
              <a:t>Overhead costs rising (+2.6%) IT/personnel</a:t>
            </a:r>
          </a:p>
          <a:p>
            <a:pPr>
              <a:spcAft>
                <a:spcPts val="400"/>
              </a:spcAft>
              <a:defRPr sz="1200">
                <a:solidFill>
                  <a:srgbClr val="E94560"/>
                </a:solidFill>
              </a:defRPr>
            </a:pPr>
            <a:r>
              <a:t>Revenue (operating) declined 3.7%</a:t>
            </a:r>
          </a:p>
          <a:p>
            <a:pPr>
              <a:spcAft>
                <a:spcPts val="400"/>
              </a:spcAft>
              <a:defRPr sz="1200">
                <a:solidFill>
                  <a:srgbClr val="E94560"/>
                </a:solidFill>
              </a:defRPr>
            </a:pPr>
            <a:r>
              <a:t>Indonesia loan growth soft (-0.5%)</a:t>
            </a:r>
          </a:p>
          <a:p>
            <a:pPr>
              <a:spcAft>
                <a:spcPts val="400"/>
              </a:spcAft>
              <a:defRPr sz="1200">
                <a:solidFill>
                  <a:srgbClr val="E94560"/>
                </a:solidFill>
              </a:defRPr>
            </a:pPr>
            <a:r>
              <a:t>Competitive deposit market in Malaysia</a:t>
            </a:r>
          </a:p>
        </p:txBody>
      </p:sp>
      <p:sp>
        <p:nvSpPr>
          <p:cNvPr id="7" name="Rectangle 6"/>
          <p:cNvSpPr/>
          <p:nvPr/>
        </p:nvSpPr>
        <p:spPr>
          <a:xfrm>
            <a:off x="274320" y="5486400"/>
            <a:ext cx="11612880" cy="27432"/>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760720"/>
            <a:ext cx="10972800" cy="731520"/>
          </a:xfrm>
          <a:prstGeom prst="rect">
            <a:avLst/>
          </a:prstGeom>
          <a:noFill/>
        </p:spPr>
        <p:txBody>
          <a:bodyPr wrap="square">
            <a:spAutoFit/>
          </a:bodyPr>
          <a:lstStyle/>
          <a:p>
            <a:pPr algn="ctr">
              <a:defRPr sz="1400" b="1">
                <a:solidFill>
                  <a:srgbClr val="8AB4F8"/>
                </a:solidFill>
              </a:defRPr>
            </a:pPr>
            <a:r>
              <a:t>OUTLOOK: Maybank aims to double profit by 2030, leveraging ASEAN connectivity, Islamic banking leadership, and digital transformation.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ectangle 1"/>
          <p:cNvSpPr/>
          <p:nvPr/>
        </p:nvSpPr>
        <p:spPr>
          <a:xfrm>
            <a:off x="5029200" y="2560320"/>
            <a:ext cx="2133295" cy="54864"/>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926080"/>
            <a:ext cx="10058400" cy="914400"/>
          </a:xfrm>
          <a:prstGeom prst="rect">
            <a:avLst/>
          </a:prstGeom>
          <a:noFill/>
        </p:spPr>
        <p:txBody>
          <a:bodyPr wrap="square">
            <a:spAutoFit/>
          </a:bodyPr>
          <a:lstStyle/>
          <a:p>
            <a:pPr algn="ctr">
              <a:defRPr sz="4800" b="1">
                <a:solidFill>
                  <a:srgbClr val="FFFFFF"/>
                </a:solidFill>
              </a:defRPr>
            </a:pPr>
            <a:r>
              <a:t>Thank You</a:t>
            </a:r>
          </a:p>
        </p:txBody>
      </p:sp>
      <p:sp>
        <p:nvSpPr>
          <p:cNvPr id="4" name="TextBox 3"/>
          <p:cNvSpPr txBox="1"/>
          <p:nvPr/>
        </p:nvSpPr>
        <p:spPr>
          <a:xfrm>
            <a:off x="914400" y="3840480"/>
            <a:ext cx="10058400" cy="457200"/>
          </a:xfrm>
          <a:prstGeom prst="rect">
            <a:avLst/>
          </a:prstGeom>
          <a:noFill/>
        </p:spPr>
        <p:txBody>
          <a:bodyPr wrap="square">
            <a:spAutoFit/>
          </a:bodyPr>
          <a:lstStyle/>
          <a:p>
            <a:pPr algn="ctr">
              <a:defRPr sz="2000" b="0">
                <a:solidFill>
                  <a:srgbClr val="A0A0B8"/>
                </a:solidFill>
              </a:defRPr>
            </a:pPr>
            <a:r>
              <a:t>Maybank Financial Analysis  FY2025</a:t>
            </a:r>
          </a:p>
        </p:txBody>
      </p:sp>
      <p:sp>
        <p:nvSpPr>
          <p:cNvPr id="5" name="TextBox 4"/>
          <p:cNvSpPr txBox="1"/>
          <p:nvPr/>
        </p:nvSpPr>
        <p:spPr>
          <a:xfrm>
            <a:off x="914400" y="4754880"/>
            <a:ext cx="10058400" cy="457200"/>
          </a:xfrm>
          <a:prstGeom prst="rect">
            <a:avLst/>
          </a:prstGeom>
          <a:noFill/>
        </p:spPr>
        <p:txBody>
          <a:bodyPr wrap="square">
            <a:spAutoFit/>
          </a:bodyPr>
          <a:lstStyle/>
          <a:p>
            <a:pPr algn="ctr">
              <a:defRPr sz="1300" b="0">
                <a:solidFill>
                  <a:srgbClr val="7A7A9A"/>
                </a:solidFill>
              </a:defRPr>
            </a:pPr>
            <a:r>
              <a:t>Data sourced from Maybank FY2025 Annual Report &amp; Financial Statements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