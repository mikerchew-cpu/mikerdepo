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LUXSHARE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4FC3F7"/>
                </a:solidFill>
              </a:defRPr>
            </a:pPr>
            <a:r>
              <a:t>Financial Analysis  FY2025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8"/>
                </a:solidFill>
              </a:defRPr>
            </a:pPr>
            <a:r>
              <a:t>SHE: 002475  |  Luxshare Precision Industry Co.,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A7A9A"/>
                </a:solidFill>
              </a:defRPr>
            </a:pPr>
            <a:r>
              <a:t>Global Precision Manufacturing  |  Apple Supply Chain  |  Auto Tier-1  |  Fortune Global 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ECCA3"/>
                </a:solidFill>
              </a:defRPr>
            </a:pPr>
            <a:r>
              <a:t>Revenue RMB 332.3B  |  Market Cap ~$239B  |  HKD IPO Pending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54864" cy="4572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508760"/>
            <a:ext cx="11612880" cy="13716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A0A0B8"/>
                </a:solidFill>
              </a:defRPr>
            </a:pPr>
            <a:r>
              <a:t>Luxshare ICT delivered record revenue of RMB 332.3B (+23.6% YoY) and net profit of RMB 16.6B (+24.2% YoY) in FY2025, driven by explosive automotive growth from the Leoni acquisition and AI infrastructure demand.</a:t>
            </a:r>
          </a:p>
          <a:p>
            <a:pPr>
              <a:spcAft>
                <a:spcPts val="400"/>
              </a:spcAft>
              <a:defRPr sz="1300">
                <a:solidFill>
                  <a:srgbClr val="A0A0B8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A0A0B8"/>
                </a:solidFill>
              </a:defRPr>
            </a:pPr>
            <a:r>
              <a:t>KEY HIGHLIGHTS:</a:t>
            </a:r>
          </a:p>
          <a:p>
            <a:pPr>
              <a:spcAft>
                <a:spcPts val="400"/>
              </a:spcAft>
              <a:defRPr sz="1300">
                <a:solidFill>
                  <a:srgbClr val="A0A0B8"/>
                </a:solidFill>
              </a:defRPr>
            </a:pPr>
            <a:r>
              <a:t>  Revenue: RMB 332.3B (+23.6%)        |   Net Profit: RMB 16.6B (+24.2%)</a:t>
            </a:r>
          </a:p>
          <a:p>
            <a:pPr>
              <a:spcAft>
                <a:spcPts val="400"/>
              </a:spcAft>
              <a:defRPr sz="1300">
                <a:solidFill>
                  <a:srgbClr val="A0A0B8"/>
                </a:solidFill>
              </a:defRPr>
            </a:pPr>
            <a:r>
              <a:t>  Automotive: RMB 39.3B (+185%)        |   Data Center: RMB 24.6B (+33.8%)</a:t>
            </a:r>
          </a:p>
          <a:p>
            <a:pPr>
              <a:spcAft>
                <a:spcPts val="400"/>
              </a:spcAft>
              <a:defRPr sz="1300">
                <a:solidFill>
                  <a:srgbClr val="A0A0B8"/>
                </a:solidFill>
              </a:defRPr>
            </a:pPr>
            <a:r>
              <a:t>  Consumer Electronics: ~RMB 264.5B (+13.4%)  |   ROE: 19.1%</a:t>
            </a:r>
          </a:p>
          <a:p>
            <a:pPr>
              <a:spcAft>
                <a:spcPts val="400"/>
              </a:spcAft>
              <a:defRPr sz="1300">
                <a:solidFill>
                  <a:srgbClr val="A0A0B8"/>
                </a:solidFill>
              </a:defRPr>
            </a:pPr>
            <a:r>
              <a:t>  Cash: RMB 60.6B                     |   P/E: 17.1x (Forward ~14.5x)</a:t>
            </a:r>
          </a:p>
          <a:p>
            <a:pPr>
              <a:spcAft>
                <a:spcPts val="400"/>
              </a:spcAft>
              <a:defRPr sz="1300">
                <a:solidFill>
                  <a:srgbClr val="A0A0B8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A0A0B8"/>
                </a:solidFill>
              </a:defRPr>
            </a:pPr>
            <a:r>
              <a:t>CEO Wang Laisheng: "The true strength of an enterprise is demonstrated not only by its ability to grow in favorable cycles, but also by its capacity to sustain performance amid uncertainty."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54864" cy="4572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Income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508760"/>
            <a:ext cx="11612880" cy="13716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4FC3F7"/>
                          </a:solidFill>
                        </a:defRPr>
                      </a:pPr>
                      <a:r>
                        <a:t>Metric (RMB M)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4FC3F7"/>
                          </a:solidFill>
                        </a:defRPr>
                      </a:pPr>
                      <a:r>
                        <a:t>FY2025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4FC3F7"/>
                          </a:solidFill>
                        </a:defRPr>
                      </a:pPr>
                      <a:r>
                        <a:t>FY2024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4FC3F7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4FC3F7"/>
                          </a:solidFill>
                        </a:defRPr>
                      </a:pPr>
                      <a:r>
                        <a:t>Trend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Operating Revenue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332,344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268,795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+23.6%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Gross Profit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38,444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27,070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+42.0%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Gross Margin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11.57%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10.07%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+150 bps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EBITDA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26,255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21,104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+24.4%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EBIT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13,653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10,513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+29.9%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Net Profit (Attr.)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16,600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13,366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+24.2%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Core Net Profit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14,170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11,700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+21.2%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EPS (Diluted)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RMB 2.26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RMB 1.85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+22.2%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54864" cy="4572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Performance Indicators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265176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9A"/>
                </a:solidFill>
              </a:defRPr>
            </a:pPr>
            <a:r>
              <a:t>Revenue FY2025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RMB 332.3B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CA3"/>
                </a:solidFill>
              </a:defRPr>
            </a:pPr>
            <a:r>
              <a:t>+23.6% YoY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828800"/>
            <a:ext cx="265176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9A"/>
                </a:solidFill>
              </a:defRPr>
            </a:pPr>
            <a:r>
              <a:t>Net Profit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148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RMB 16.6B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CA3"/>
                </a:solidFill>
              </a:defRPr>
            </a:pPr>
            <a:r>
              <a:t>+24.2% YoY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265176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9A"/>
                </a:solidFill>
              </a:defRPr>
            </a:pPr>
            <a:r>
              <a:t>Automotive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48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RMB 39.3B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CA3"/>
                </a:solidFill>
              </a:defRPr>
            </a:pPr>
            <a:r>
              <a:t>+185% (Leoni)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828800"/>
            <a:ext cx="265176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9A"/>
                </a:solidFill>
              </a:defRPr>
            </a:pPr>
            <a:r>
              <a:t>Data Center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148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RMB 24.6B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FC3F7"/>
                </a:solidFill>
              </a:defRPr>
            </a:pPr>
            <a:r>
              <a:t>+33.8% (AI)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0480"/>
            <a:ext cx="265176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9A"/>
                </a:solidFill>
              </a:defRPr>
            </a:pPr>
            <a:r>
              <a:t>Gross Margin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160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11.57%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17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CA3"/>
                </a:solidFill>
              </a:defRPr>
            </a:pPr>
            <a:r>
              <a:t>+150 bps YoY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3840480"/>
            <a:ext cx="265176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9A"/>
                </a:solidFill>
              </a:defRPr>
            </a:pPr>
            <a:r>
              <a:t>ROE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4160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19.1%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617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CA3"/>
                </a:solidFill>
              </a:defRPr>
            </a:pPr>
            <a:r>
              <a:t>Strong returns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840480"/>
            <a:ext cx="265176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9A"/>
                </a:solidFill>
              </a:defRPr>
            </a:pPr>
            <a:r>
              <a:t>Cash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160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RMB 60.6B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617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FC3F7"/>
                </a:solidFill>
              </a:defRPr>
            </a:pPr>
            <a:r>
              <a:t>Healthy liquidity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98280" y="3840480"/>
            <a:ext cx="265176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1160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A9A"/>
                </a:solidFill>
              </a:defRPr>
            </a:pPr>
            <a:r>
              <a:t>P/E (Fwd)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4160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~14.5x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4617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A726"/>
                </a:solidFill>
              </a:defRPr>
            </a:pPr>
            <a:r>
              <a:t>GS target RMB 106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54864" cy="4572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Segment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508760"/>
            <a:ext cx="11612880" cy="13716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4FC3F7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4FC3F7"/>
                          </a:solidFill>
                        </a:defRPr>
                      </a:pPr>
                      <a:r>
                        <a:t>Revenue (RMB B)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4FC3F7"/>
                          </a:solidFill>
                        </a:defRPr>
                      </a:pPr>
                      <a:r>
                        <a:t>YoY Growth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4FC3F7"/>
                          </a:solidFill>
                        </a:defRPr>
                      </a:pPr>
                      <a:r>
                        <a:t>Gross Margin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4FC3F7"/>
                          </a:solidFill>
                        </a:defRPr>
                      </a:pPr>
                      <a:r>
                        <a:t>Key Driver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Consumer Electronics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~264.5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+13.4%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~10%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AI devices, Apple, ODM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Automotive Electronics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39.25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+185.3%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~15%*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Leoni acquisition, Tier-1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Comms &amp; Data Center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24.57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+33.8%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18.4%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AI infra, high-speed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Other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~4.0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~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Diversified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A0A0B8"/>
                </a:solidFill>
              </a:defRPr>
            </a:pPr>
            <a:r>
              <a:t>STRATEGIC PIVOT: From Apple-dependent manufacturer to diversified precision tech platform</a:t>
            </a:r>
          </a:p>
          <a:p>
            <a:pPr>
              <a:spcAft>
                <a:spcPts val="400"/>
              </a:spcAft>
              <a:defRPr sz="1200">
                <a:solidFill>
                  <a:srgbClr val="A0A0B8"/>
                </a:solidFill>
              </a:defRPr>
            </a:pPr>
            <a:r>
              <a:t>  Leoni: 1st-year profitability improvement, global auto customer base + production network</a:t>
            </a:r>
          </a:p>
          <a:p>
            <a:pPr>
              <a:spcAft>
                <a:spcPts val="400"/>
              </a:spcAft>
              <a:defRPr sz="1200">
                <a:solidFill>
                  <a:srgbClr val="A0A0B8"/>
                </a:solidFill>
              </a:defRPr>
            </a:pPr>
            <a:r>
              <a:t>  AI Infra: High-speed interconnect, optical, liquid cooling, power management for AI servers</a:t>
            </a:r>
          </a:p>
          <a:p>
            <a:pPr>
              <a:spcAft>
                <a:spcPts val="400"/>
              </a:spcAft>
              <a:defRPr sz="1200">
                <a:solidFill>
                  <a:srgbClr val="A0A0B8"/>
                </a:solidFill>
              </a:defRPr>
            </a:pPr>
            <a:r>
              <a:t>  OpenAI Partnership: Future device production — reduces Apple concentration</a:t>
            </a:r>
          </a:p>
          <a:p>
            <a:pPr>
              <a:spcAft>
                <a:spcPts val="400"/>
              </a:spcAft>
              <a:defRPr sz="1200">
                <a:solidFill>
                  <a:srgbClr val="A0A0B8"/>
                </a:solidFill>
              </a:defRPr>
            </a:pPr>
            <a:r>
              <a:t>  HKD IPO: Seeking ~$3B in Hong Kong — global capital market expansion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54864" cy="4572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Valuation &amp; Key Ratios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508760"/>
            <a:ext cx="11612880" cy="13716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4FC3F7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4FC3F7"/>
                          </a:solidFill>
                        </a:defRPr>
                      </a:pPr>
                      <a:r>
                        <a:t>FY2025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4FC3F7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4FC3F7"/>
                          </a:solidFill>
                        </a:defRPr>
                      </a:pPr>
                      <a:r>
                        <a:t>FY2025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P/E (Trailing)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17.1x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P/E (Forward)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~14.5x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P/S Ratio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0.86x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P/B Ratio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3.3x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PEG Ratio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0.67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EV/EBITDA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14.4x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ROE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19.1%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ROA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3.3%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Net Margin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5.00%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Operating Margin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4.11%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Debt/Equity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101.5%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Current Ratio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1.25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Cash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RMB 60.6B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Book Value / Share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RMB 10.02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Div Yield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0.9%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Insider Ownership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38.8%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54864" cy="4572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Analysis Summary &amp; Outlook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508760"/>
            <a:ext cx="11612880" cy="13716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4ECCA3"/>
                </a:solidFill>
              </a:defRPr>
            </a:pPr>
            <a:r>
              <a:t>STRENGTHS</a:t>
            </a:r>
          </a:p>
          <a:p>
            <a:pPr>
              <a:spcAft>
                <a:spcPts val="400"/>
              </a:spcAft>
              <a:defRPr sz="1200">
                <a:solidFill>
                  <a:srgbClr val="4ECCA3"/>
                </a:solidFill>
              </a:defRPr>
            </a:pPr>
            <a:r>
              <a:t>Record revenue +23.6%, profit +24.2%</a:t>
            </a:r>
          </a:p>
          <a:p>
            <a:pPr>
              <a:spcAft>
                <a:spcPts val="400"/>
              </a:spcAft>
              <a:defRPr sz="1200">
                <a:solidFill>
                  <a:srgbClr val="4ECCA3"/>
                </a:solidFill>
              </a:defRPr>
            </a:pPr>
            <a:r>
              <a:t>Auto: Leoni makes Luxshare a global Tier-1</a:t>
            </a:r>
          </a:p>
          <a:p>
            <a:pPr>
              <a:spcAft>
                <a:spcPts val="400"/>
              </a:spcAft>
              <a:defRPr sz="1200">
                <a:solidFill>
                  <a:srgbClr val="4ECCA3"/>
                </a:solidFill>
              </a:defRPr>
            </a:pPr>
            <a:r>
              <a:t>AI infra: Data center +33.8%, margins improving</a:t>
            </a:r>
          </a:p>
          <a:p>
            <a:pPr>
              <a:spcAft>
                <a:spcPts val="400"/>
              </a:spcAft>
              <a:defRPr sz="1200">
                <a:solidFill>
                  <a:srgbClr val="4ECCA3"/>
                </a:solidFill>
              </a:defRPr>
            </a:pPr>
            <a:r>
              <a:t>Deep Apple + OpenAI partnerships</a:t>
            </a:r>
          </a:p>
          <a:p>
            <a:pPr>
              <a:spcAft>
                <a:spcPts val="400"/>
              </a:spcAft>
              <a:defRPr sz="1200">
                <a:solidFill>
                  <a:srgbClr val="4ECCA3"/>
                </a:solidFill>
              </a:defRPr>
            </a:pPr>
            <a:r>
              <a:t>Strong ROE 19.1%, cash RMB 60.6B</a:t>
            </a:r>
          </a:p>
          <a:p>
            <a:pPr>
              <a:spcAft>
                <a:spcPts val="400"/>
              </a:spcAft>
              <a:defRPr sz="1200">
                <a:solidFill>
                  <a:srgbClr val="4ECCA3"/>
                </a:solidFill>
              </a:defRPr>
            </a:pPr>
            <a:r>
              <a:t>GS target RMB 106 vs current ~60</a:t>
            </a:r>
          </a:p>
          <a:p>
            <a:pPr>
              <a:spcAft>
                <a:spcPts val="400"/>
              </a:spcAft>
              <a:defRPr sz="1200">
                <a:solidFill>
                  <a:srgbClr val="4ECCA3"/>
                </a:solidFill>
              </a:defRPr>
            </a:pPr>
            <a:r>
              <a:t>PEG 0.67 — undervalued for growth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F5350"/>
                </a:solidFill>
              </a:defRPr>
            </a:pPr>
            <a:r>
              <a:t>RISKS &amp; CHALLENGES</a:t>
            </a:r>
          </a:p>
          <a:p>
            <a:pPr>
              <a:spcAft>
                <a:spcPts val="400"/>
              </a:spcAft>
              <a:defRPr sz="1200">
                <a:solidFill>
                  <a:srgbClr val="EF5350"/>
                </a:solidFill>
              </a:defRPr>
            </a:pPr>
            <a:r>
              <a:t>Apple concentration (~80% consumer rev.)</a:t>
            </a:r>
          </a:p>
          <a:p>
            <a:pPr>
              <a:spcAft>
                <a:spcPts val="400"/>
              </a:spcAft>
              <a:defRPr sz="1200">
                <a:solidFill>
                  <a:srgbClr val="EF5350"/>
                </a:solidFill>
              </a:defRPr>
            </a:pPr>
            <a:r>
              <a:t>Debt/Equity 101.5% post-Leoni</a:t>
            </a:r>
          </a:p>
          <a:p>
            <a:pPr>
              <a:spcAft>
                <a:spcPts val="400"/>
              </a:spcAft>
              <a:defRPr sz="1200">
                <a:solidFill>
                  <a:srgbClr val="EF5350"/>
                </a:solidFill>
              </a:defRPr>
            </a:pPr>
            <a:r>
              <a:t>Negative FCF (-RMB 579M)</a:t>
            </a:r>
          </a:p>
          <a:p>
            <a:pPr>
              <a:spcAft>
                <a:spcPts val="400"/>
              </a:spcAft>
              <a:defRPr sz="1200">
                <a:solidFill>
                  <a:srgbClr val="EF5350"/>
                </a:solidFill>
              </a:defRPr>
            </a:pPr>
            <a:r>
              <a:t>Low net margin (~5%)</a:t>
            </a:r>
          </a:p>
          <a:p>
            <a:pPr>
              <a:spcAft>
                <a:spcPts val="400"/>
              </a:spcAft>
              <a:defRPr sz="1200">
                <a:solidFill>
                  <a:srgbClr val="EF5350"/>
                </a:solidFill>
              </a:defRPr>
            </a:pPr>
            <a:r>
              <a:t>US-China trade / tariff uncertainty</a:t>
            </a:r>
          </a:p>
          <a:p>
            <a:pPr>
              <a:spcAft>
                <a:spcPts val="400"/>
              </a:spcAft>
              <a:defRPr sz="1200">
                <a:solidFill>
                  <a:srgbClr val="EF5350"/>
                </a:solidFill>
              </a:defRPr>
            </a:pPr>
            <a:r>
              <a:t>Share price -16% over 52 weeks</a:t>
            </a:r>
          </a:p>
          <a:p>
            <a:pPr>
              <a:spcAft>
                <a:spcPts val="400"/>
              </a:spcAft>
              <a:defRPr sz="1200">
                <a:solidFill>
                  <a:srgbClr val="EF5350"/>
                </a:solidFill>
              </a:defRPr>
            </a:pPr>
            <a:r>
              <a:t>CapEx heavy (~12% of revenue)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11612880" cy="27432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FC3F7"/>
                </a:solidFill>
              </a:defRPr>
            </a:pPr>
            <a:r>
              <a:t>OUTLOOK: Luxshare is transforming from an Apple-centric assembler into a diversified precision tech platform spanning auto, AI infrastructure, and consumer electronics. The HKD IPO and OpenAI partnership are key catalysts. At 14.5x forward P/E with 24% earnings growth, valuation remains compelling.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2560320"/>
            <a:ext cx="2133295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B8"/>
                </a:solidFill>
              </a:defRPr>
            </a:pPr>
            <a:r>
              <a:t>Luxshare ICT Financial Analysis  FY2025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A7A9A"/>
                </a:solidFill>
              </a:defRPr>
            </a:pPr>
            <a:r>
              <a:t>Data sourced from Luxshare ICT 2025 Annual Report &amp; SZSE filings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