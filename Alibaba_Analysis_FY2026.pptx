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ALIBABA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Financial Analysis   FY2026 (ended March 31,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8"/>
                </a:solidFill>
              </a:defRPr>
            </a:pPr>
            <a:r>
              <a:t>NYSE: BABA  |  HKEX: 9988  |  Global Technology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A9A"/>
                </a:solidFill>
              </a:defRPr>
            </a:pPr>
            <a:r>
              <a:t>E-Commerce  |  Cloud Computing  |  AI   |   124,000+ 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388FF"/>
                </a:solidFill>
              </a:defRPr>
            </a:pPr>
            <a:r>
              <a:t>Market Cap ~$245B  |  Share Price ~$96 (Jul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Alibaba Group reported FY2026 revenue of $148.4B, with Cloud Intelligence revenue accelerating to +40% growth in Q4 driven by AI commercialization at scale. Net income was $14.81B, down from $17.36B in FY2025 due to heavy AI infrastructure investment.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KEY HIGHLIGHTS: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Revenue: $148.4B (+7.5% YoY)               |   Cloud Growth: +40% (Q4 FY26)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Net Income: $14.81B (-14.7% YoY)            |   AI Revenue: Triple-digit growth 11th quarter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Share Buybacks: $11B+ (FY25)                |   Dividend: $4.6B returned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Cash Position: $19.07B                       |   Employees: 124,320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CEO Eddie Wu: "Alibaba's full-stack AI investments have progressed from incubation to commercialization at scale."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Income Statement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FY2026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FY2025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$148.40B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$138.0B*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+7.5%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$59.08B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$55.6B*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+6.3%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Operating Income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$7.27B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$10.3B*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-29.4%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Net Income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$14.81B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$17.36B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-14.7%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Diluted EPS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$6.02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$7.05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-14.6%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Revenue (CNY)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~1.07T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996.35B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+7.5%*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9A"/>
                </a:solidFill>
              </a:defRPr>
            </a:pPr>
            <a:r>
              <a:t>* FY2025 revenue estimated; FY2026 CNY revenue estimated at ~1.07T at ~7.5%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Revenue FY2026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$148.4B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+7.5% YoY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Cloud Growth (Q4)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+40%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AI-driven acceleration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Net 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$14.81B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</a:defRPr>
            </a:pPr>
            <a:r>
              <a:t>-14.7% YoY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Buybacks (FY25)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$11B+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Aggressive returns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Cash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$19.07B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Strong liquidity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AI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Triple-digit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8FF"/>
                </a:solidFill>
              </a:defRPr>
            </a:pPr>
            <a:r>
              <a:t>11 straight quarters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Dividends (FY25)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$4.6B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$1.00/ADS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Employees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124,320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8FF"/>
                </a:solidFill>
              </a:defRPr>
            </a:pPr>
            <a:r>
              <a:t>Global workforce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Segment &amp; Strategic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Key Highlight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Strategic Importance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Cloud Intelligence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External revenue acceleration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+40% (Q4)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AI commercialization at scale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AI Products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30% of Cloud revenue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Triple-digit x11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Core growth engine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Taobao &amp; Tmall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Domestic e-commerce growth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Accelerating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Cash cow, AI integration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AIDC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International e-commerce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Strong growth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Global expansion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Cainiao / Local Svcs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Restructured reporting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Narrowing loss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Ecosystem support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A0A0B8"/>
                </a:solidFill>
              </a:defRPr>
            </a:pPr>
            <a:r>
              <a:t>STRATEGIC PIVOT: "User First, AI Driven"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Qwen LLM: Leadership in reasoning &amp; coding; multimodal (video, world models); 300M+ open-source downloads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AI Agents: Enterprise AI agents for office &amp; coding; consumer AI integrated into Qwen app with e-commerce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Non-core Divestiture: Sold SunArt, Intime to sharpen focus on core e-commerce + cloud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T-Head (AI Chip): IPO reportedly planned — potential high valuation catalyst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Balance Sheet &amp;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FY2026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</a:defRPr>
                      </a:pPr>
                      <a:r>
                        <a:t>FY2026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Total Assets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$244.4B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Cash &amp; Equivalents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$19.07B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Total Liabilities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$113.55B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Long-term Investments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$58.7B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Shareholders' Equity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~$130.9B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Book Value / ADS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$8.32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~39.8%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Operating Margin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~4.9%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~10.0%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P/E Ratio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~16.5x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P/S Ratio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~1.65x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Cash Flow (Q4)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$3.74B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Analysis Summary &amp;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ECCA3"/>
                </a:solidFill>
              </a:defRPr>
            </a:pPr>
            <a:r>
              <a:t>STRENGTHS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Cloud +40% growth — AI commercialization at scale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Qwen LLM leadership (reasoning, coding, multimodal)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Strong balance sheet: $19B cash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$15.6B+ returned to shareholders (FY25)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E-commerce ecosystem: TTG + AIDC global reach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AI chip T-Head spinoff — potential catalyst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300M+ open-source model downloads globally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6B35"/>
                </a:solidFill>
              </a:defRPr>
            </a:pPr>
            <a:r>
              <a:t>RISKS &amp; CHALLENGES</a:t>
            </a:r>
          </a:p>
          <a:p>
            <a:pPr>
              <a:spcAft>
                <a:spcPts val="400"/>
              </a:spcAft>
              <a:defRPr sz="1200">
                <a:solidFill>
                  <a:srgbClr val="FF6B35"/>
                </a:solidFill>
              </a:defRPr>
            </a:pPr>
            <a:r>
              <a:t>Net income -14.7% — heavy AI investment costs</a:t>
            </a:r>
          </a:p>
          <a:p>
            <a:pPr>
              <a:spcAft>
                <a:spcPts val="400"/>
              </a:spcAft>
              <a:defRPr sz="1200">
                <a:solidFill>
                  <a:srgbClr val="FF6B35"/>
                </a:solidFill>
              </a:defRPr>
            </a:pPr>
            <a:r>
              <a:t>Operating margin compressed to ~4.9%</a:t>
            </a:r>
          </a:p>
          <a:p>
            <a:pPr>
              <a:spcAft>
                <a:spcPts val="400"/>
              </a:spcAft>
              <a:defRPr sz="1200">
                <a:solidFill>
                  <a:srgbClr val="FF6B35"/>
                </a:solidFill>
              </a:defRPr>
            </a:pPr>
            <a:r>
              <a:t>Regulatory overhang in China</a:t>
            </a:r>
          </a:p>
          <a:p>
            <a:pPr>
              <a:spcAft>
                <a:spcPts val="400"/>
              </a:spcAft>
              <a:defRPr sz="1200">
                <a:solidFill>
                  <a:srgbClr val="FF6B35"/>
                </a:solidFill>
              </a:defRPr>
            </a:pPr>
            <a:r>
              <a:t>Competition: PDD, JD.com, ByteDance, Tencent</a:t>
            </a:r>
          </a:p>
          <a:p>
            <a:pPr>
              <a:spcAft>
                <a:spcPts val="400"/>
              </a:spcAft>
              <a:defRPr sz="1200">
                <a:solidFill>
                  <a:srgbClr val="FF6B35"/>
                </a:solidFill>
              </a:defRPr>
            </a:pPr>
            <a:r>
              <a:t>Asset base shrinking ($244B vs $255B prior)</a:t>
            </a:r>
          </a:p>
          <a:p>
            <a:pPr>
              <a:spcAft>
                <a:spcPts val="400"/>
              </a:spcAft>
              <a:defRPr sz="1200">
                <a:solidFill>
                  <a:srgbClr val="FF6B35"/>
                </a:solidFill>
              </a:defRPr>
            </a:pPr>
            <a:r>
              <a:t>China macro headwinds / consumer slowdown</a:t>
            </a:r>
          </a:p>
          <a:p>
            <a:pPr>
              <a:spcAft>
                <a:spcPts val="400"/>
              </a:spcAft>
              <a:defRPr sz="1200">
                <a:solidFill>
                  <a:srgbClr val="FF6B35"/>
                </a:solidFill>
              </a:defRPr>
            </a:pPr>
            <a:r>
              <a:t>Liabilities up 15.4%, debt/equity rising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11612880" cy="27432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388FF"/>
                </a:solidFill>
              </a:defRPr>
            </a:pPr>
            <a:r>
              <a:t>OUTLOOK: Alibaba is pivoting from e-commerce giant to AI-first technology leader. AI monetization, T-Head IPO, and international e-commerce profitability are key catalysts for FY2027.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560320"/>
            <a:ext cx="21332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8"/>
                </a:solidFill>
              </a:defRPr>
            </a:pPr>
            <a:r>
              <a:t>Alibaba Group Financial Analysis  FY2026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A9A"/>
                </a:solidFill>
              </a:defRPr>
            </a:pPr>
            <a:r>
              <a:t>Data sourced from Alibaba Group earnings release (May 2026) &amp; SEC Form 20-F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